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FrugalRouter, our entry for Track 1 — the hybrid token-efficient routing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1 scores accuracy per Fireworks token — on a 2 vCPU, 4 GB box, with a hard 10-minute limit and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routers try to pick the cheapest cloud model for each task. We inverted the problem: we make cloud calls unnecessary. Two small quantized models run entirely inside the grading container on two CPU cores — so most answers cost exactly zero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models can’t be trusted raw, so nothing ships unverified. Math answers come from Python programs we actually execute. Generated code only passes when two independent implementations agree on real observed behavior. Logic puzzles are solved by brute-forcing every possibility and proving the answer is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carries a confidence score. Only the weakest escalate to Fireworks — cheapest first, capped by a hard 900-token budget. We measured every serverless model and picked gpt-oss-120b at low reasoning effort: about 137 tokens for a full word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engineered so the container cannot time out: a throughput probe sets the speed governor, output is written atomically after every task, and the watchdog guarantees a clean exit before the harness limit. All 19 tasks finish in 232 seconds at grading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ninety percent accuracy with zero external tokens, ninety-five with escalation, nineteen tasks in under four minutes on the grading hardware. FrugalRouter — verified answers, almost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371600"/>
            <a:ext cx="8229600" cy="320040"/>
          </a:xfrm>
          <a:prstGeom prst="rect">
            <a:avLst/>
          </a:prstGeom>
          <a:noFill/>
          <a:ln/>
        </p:spPr>
        <p:txBody>
          <a:bodyPr wrap="square" lIns="0" tIns="0" rIns="0" bIns="0" rtlCol="0" anchor="ctr"/>
          <a:lstStyle/>
          <a:p>
            <a:pPr indent="0" marL="0">
              <a:buNone/>
            </a:pPr>
            <a:r>
              <a:rPr lang="en-US" sz="1300" b="1" spc="300" kern="0" dirty="0">
                <a:solidFill>
                  <a:srgbClr val="ED1C24"/>
                </a:solidFill>
                <a:latin typeface="Arial" pitchFamily="34" charset="0"/>
                <a:ea typeface="Arial" pitchFamily="34" charset="-122"/>
                <a:cs typeface="Arial" pitchFamily="34" charset="-120"/>
              </a:rPr>
              <a:t>AMD DEVELOPER HACKATHON — ACT II  ·  TRACK 1</a:t>
            </a:r>
            <a:endParaRPr lang="en-US" sz="1300" dirty="0"/>
          </a:p>
        </p:txBody>
      </p:sp>
      <p:sp>
        <p:nvSpPr>
          <p:cNvPr id="3" name="Text 1"/>
          <p:cNvSpPr/>
          <p:nvPr/>
        </p:nvSpPr>
        <p:spPr>
          <a:xfrm>
            <a:off x="822960" y="1737360"/>
            <a:ext cx="7772400" cy="1051560"/>
          </a:xfrm>
          <a:prstGeom prst="rect">
            <a:avLst/>
          </a:prstGeom>
          <a:noFill/>
          <a:ln/>
        </p:spPr>
        <p:txBody>
          <a:bodyPr wrap="square" lIns="0" tIns="0" rIns="0" bIns="0" rtlCol="0" anchor="ctr"/>
          <a:lstStyle/>
          <a:p>
            <a:pPr indent="0" marL="0">
              <a:buNone/>
            </a:pPr>
            <a:r>
              <a:rPr lang="en-US" sz="6400" b="1" dirty="0">
                <a:solidFill>
                  <a:srgbClr val="26282C"/>
                </a:solidFill>
                <a:latin typeface="Arial" pitchFamily="34" charset="0"/>
                <a:ea typeface="Arial" pitchFamily="34" charset="-122"/>
                <a:cs typeface="Arial" pitchFamily="34" charset="-120"/>
              </a:rPr>
              <a:t>FrugalRouter</a:t>
            </a:r>
            <a:endParaRPr lang="en-US" sz="6400" dirty="0"/>
          </a:p>
        </p:txBody>
      </p:sp>
      <p:sp>
        <p:nvSpPr>
          <p:cNvPr id="4" name="Text 2"/>
          <p:cNvSpPr/>
          <p:nvPr/>
        </p:nvSpPr>
        <p:spPr>
          <a:xfrm>
            <a:off x="822960" y="2971800"/>
            <a:ext cx="6949440" cy="685800"/>
          </a:xfrm>
          <a:prstGeom prst="rect">
            <a:avLst/>
          </a:prstGeom>
          <a:noFill/>
          <a:ln/>
        </p:spPr>
        <p:txBody>
          <a:bodyPr wrap="square" lIns="0" tIns="0" rIns="0" bIns="0" rtlCol="0" anchor="ctr"/>
          <a:lstStyle/>
          <a:p>
            <a:pPr indent="0" marL="0">
              <a:lnSpc>
                <a:spcPct val="115000"/>
              </a:lnSpc>
              <a:buNone/>
            </a:pPr>
            <a:r>
              <a:rPr lang="en-US" sz="1700" dirty="0">
                <a:solidFill>
                  <a:srgbClr val="63686E"/>
                </a:solidFill>
                <a:latin typeface="Arial" pitchFamily="34" charset="0"/>
                <a:ea typeface="Arial" pitchFamily="34" charset="-122"/>
                <a:cs typeface="Arial" pitchFamily="34" charset="-120"/>
              </a:rPr>
              <a:t>A hybrid routing agent that answers 19 varied tasks with the fewest external tokens possible.</a:t>
            </a:r>
            <a:endParaRPr lang="en-US" sz="1700" dirty="0"/>
          </a:p>
        </p:txBody>
      </p:sp>
      <p:sp>
        <p:nvSpPr>
          <p:cNvPr id="5" name="Text 3"/>
          <p:cNvSpPr/>
          <p:nvPr/>
        </p:nvSpPr>
        <p:spPr>
          <a:xfrm>
            <a:off x="822960" y="3794760"/>
            <a:ext cx="7315200" cy="320040"/>
          </a:xfrm>
          <a:prstGeom prst="rect">
            <a:avLst/>
          </a:prstGeom>
          <a:noFill/>
          <a:ln/>
        </p:spPr>
        <p:txBody>
          <a:bodyPr wrap="square" lIns="0" tIns="0" rIns="0" bIns="0" rtlCol="0" anchor="ctr"/>
          <a:lstStyle/>
          <a:p>
            <a:pPr indent="0" marL="0">
              <a:buNone/>
            </a:pPr>
            <a:r>
              <a:rPr lang="en-US" sz="1450" b="1" dirty="0">
                <a:solidFill>
                  <a:srgbClr val="26282C"/>
                </a:solidFill>
                <a:latin typeface="Arial" pitchFamily="34" charset="0"/>
                <a:ea typeface="Arial" pitchFamily="34" charset="-122"/>
                <a:cs typeface="Arial" pitchFamily="34" charset="-120"/>
              </a:rPr>
              <a:t>Local-first inference</a:t>
            </a:r>
            <a:pPr indent="0" marL="0">
              <a:buNone/>
            </a:pPr>
            <a:r>
              <a:rPr lang="en-US" sz="1450" dirty="0">
                <a:solidFill>
                  <a:srgbClr val="63686E"/>
                </a:solidFill>
                <a:latin typeface="Arial" pitchFamily="34" charset="0"/>
                <a:ea typeface="Arial" pitchFamily="34" charset="-122"/>
                <a:cs typeface="Arial" pitchFamily="34" charset="-120"/>
              </a:rPr>
              <a:t>  ·  </a:t>
            </a:r>
            <a:pPr indent="0" marL="0">
              <a:buNone/>
            </a:pPr>
            <a:r>
              <a:rPr lang="en-US" sz="1450" b="1" dirty="0">
                <a:solidFill>
                  <a:srgbClr val="26282C"/>
                </a:solidFill>
                <a:latin typeface="Arial" pitchFamily="34" charset="0"/>
                <a:ea typeface="Arial" pitchFamily="34" charset="-122"/>
                <a:cs typeface="Arial" pitchFamily="34" charset="-120"/>
              </a:rPr>
              <a:t>deterministic verification</a:t>
            </a:r>
            <a:pPr indent="0" marL="0">
              <a:buNone/>
            </a:pPr>
            <a:r>
              <a:rPr lang="en-US" sz="1450" dirty="0">
                <a:solidFill>
                  <a:srgbClr val="63686E"/>
                </a:solidFill>
                <a:latin typeface="Arial" pitchFamily="34" charset="0"/>
                <a:ea typeface="Arial" pitchFamily="34" charset="-122"/>
                <a:cs typeface="Arial" pitchFamily="34" charset="-120"/>
              </a:rPr>
              <a:t>  ·  </a:t>
            </a:r>
            <a:pPr indent="0" marL="0">
              <a:buNone/>
            </a:pPr>
            <a:r>
              <a:rPr lang="en-US" sz="1450" b="1" dirty="0">
                <a:solidFill>
                  <a:srgbClr val="26282C"/>
                </a:solidFill>
                <a:latin typeface="Arial" pitchFamily="34" charset="0"/>
                <a:ea typeface="Arial" pitchFamily="34" charset="-122"/>
                <a:cs typeface="Arial" pitchFamily="34" charset="-120"/>
              </a:rPr>
              <a:t>budgeted escalation</a:t>
            </a:r>
            <a:endParaRPr lang="en-US" sz="1450" dirty="0"/>
          </a:p>
        </p:txBody>
      </p:sp>
      <p:sp>
        <p:nvSpPr>
          <p:cNvPr id="6" name="Shape 4"/>
          <p:cNvSpPr/>
          <p:nvPr/>
        </p:nvSpPr>
        <p:spPr>
          <a:xfrm>
            <a:off x="822960" y="4434840"/>
            <a:ext cx="3256727" cy="457200"/>
          </a:xfrm>
          <a:prstGeom prst="roundRect">
            <a:avLst>
              <a:gd name="adj" fmla="val 16000"/>
            </a:avLst>
          </a:prstGeom>
          <a:solidFill>
            <a:srgbClr val="1D1F23"/>
          </a:solidFill>
          <a:ln/>
        </p:spPr>
      </p:sp>
      <p:sp>
        <p:nvSpPr>
          <p:cNvPr id="7" name="Text 5"/>
          <p:cNvSpPr/>
          <p:nvPr/>
        </p:nvSpPr>
        <p:spPr>
          <a:xfrm>
            <a:off x="822960" y="4434840"/>
            <a:ext cx="3256727" cy="457200"/>
          </a:xfrm>
          <a:prstGeom prst="rect">
            <a:avLst/>
          </a:prstGeom>
          <a:noFill/>
          <a:ln/>
        </p:spPr>
        <p:txBody>
          <a:bodyPr wrap="square" lIns="0" tIns="0" rIns="0" bIns="0" rtlCol="0" anchor="ctr"/>
          <a:lstStyle/>
          <a:p>
            <a:pPr algn="ctr" indent="0" marL="0">
              <a:buNone/>
            </a:pPr>
            <a:r>
              <a:rPr lang="en-US" sz="1100" dirty="0">
                <a:solidFill>
                  <a:srgbClr val="F2F3F4"/>
                </a:solidFill>
                <a:latin typeface="Courier New" pitchFamily="34" charset="0"/>
                <a:ea typeface="Courier New" pitchFamily="34" charset="-122"/>
                <a:cs typeface="Courier New" pitchFamily="34" charset="-120"/>
              </a:rPr>
              <a:t>ghcr.io/manan-tech/frugalrouter:v1</a:t>
            </a:r>
            <a:endParaRPr lang="en-US" sz="1100" dirty="0"/>
          </a:p>
        </p:txBody>
      </p:sp>
      <p:sp>
        <p:nvSpPr>
          <p:cNvPr id="8" name="Shape 6"/>
          <p:cNvSpPr/>
          <p:nvPr/>
        </p:nvSpPr>
        <p:spPr>
          <a:xfrm>
            <a:off x="4343400" y="4434840"/>
            <a:ext cx="3256727" cy="457200"/>
          </a:xfrm>
          <a:prstGeom prst="roundRect">
            <a:avLst>
              <a:gd name="adj" fmla="val 16000"/>
            </a:avLst>
          </a:prstGeom>
          <a:solidFill>
            <a:srgbClr val="1D1F23"/>
          </a:solidFill>
          <a:ln/>
        </p:spPr>
      </p:sp>
      <p:sp>
        <p:nvSpPr>
          <p:cNvPr id="9" name="Text 7"/>
          <p:cNvSpPr/>
          <p:nvPr/>
        </p:nvSpPr>
        <p:spPr>
          <a:xfrm>
            <a:off x="4343400" y="4434840"/>
            <a:ext cx="3256727" cy="457200"/>
          </a:xfrm>
          <a:prstGeom prst="rect">
            <a:avLst/>
          </a:prstGeom>
          <a:noFill/>
          <a:ln/>
        </p:spPr>
        <p:txBody>
          <a:bodyPr wrap="square" lIns="0" tIns="0" rIns="0" bIns="0" rtlCol="0" anchor="ctr"/>
          <a:lstStyle/>
          <a:p>
            <a:pPr algn="ctr" indent="0" marL="0">
              <a:buNone/>
            </a:pPr>
            <a:r>
              <a:rPr lang="en-US" sz="1100" dirty="0">
                <a:solidFill>
                  <a:srgbClr val="F2F3F4"/>
                </a:solidFill>
                <a:latin typeface="Courier New" pitchFamily="34" charset="0"/>
                <a:ea typeface="Courier New" pitchFamily="34" charset="-122"/>
                <a:cs typeface="Courier New" pitchFamily="34" charset="-120"/>
              </a:rPr>
              <a:t>github.com/manan-tech/frugalrouter</a:t>
            </a:r>
            <a:endParaRPr lang="en-US" sz="1100" dirty="0"/>
          </a:p>
        </p:txBody>
      </p:sp>
      <p:sp>
        <p:nvSpPr>
          <p:cNvPr id="10" name="Shape 8"/>
          <p:cNvSpPr/>
          <p:nvPr/>
        </p:nvSpPr>
        <p:spPr>
          <a:xfrm>
            <a:off x="8366760" y="2148840"/>
            <a:ext cx="182880" cy="182880"/>
          </a:xfrm>
          <a:prstGeom prst="ellipse">
            <a:avLst/>
          </a:prstGeom>
          <a:solidFill>
            <a:srgbClr val="FFFFFF"/>
          </a:solidFill>
          <a:ln w="15875">
            <a:solidFill>
              <a:srgbClr val="E3E5E8"/>
            </a:solidFill>
            <a:prstDash val="solid"/>
          </a:ln>
        </p:spPr>
      </p:sp>
      <p:sp>
        <p:nvSpPr>
          <p:cNvPr id="11" name="Shape 9"/>
          <p:cNvSpPr/>
          <p:nvPr/>
        </p:nvSpPr>
        <p:spPr>
          <a:xfrm>
            <a:off x="8668512" y="2148840"/>
            <a:ext cx="182880" cy="182880"/>
          </a:xfrm>
          <a:prstGeom prst="ellipse">
            <a:avLst/>
          </a:prstGeom>
          <a:solidFill>
            <a:srgbClr val="FFFFFF"/>
          </a:solidFill>
          <a:ln w="15875">
            <a:solidFill>
              <a:srgbClr val="E3E5E8"/>
            </a:solidFill>
            <a:prstDash val="solid"/>
          </a:ln>
        </p:spPr>
      </p:sp>
      <p:sp>
        <p:nvSpPr>
          <p:cNvPr id="12" name="Shape 10"/>
          <p:cNvSpPr/>
          <p:nvPr/>
        </p:nvSpPr>
        <p:spPr>
          <a:xfrm>
            <a:off x="8970264" y="2148840"/>
            <a:ext cx="182880" cy="182880"/>
          </a:xfrm>
          <a:prstGeom prst="ellipse">
            <a:avLst/>
          </a:prstGeom>
          <a:solidFill>
            <a:srgbClr val="FFFFFF"/>
          </a:solidFill>
          <a:ln w="15875">
            <a:solidFill>
              <a:srgbClr val="E3E5E8"/>
            </a:solidFill>
            <a:prstDash val="solid"/>
          </a:ln>
        </p:spPr>
      </p:sp>
      <p:sp>
        <p:nvSpPr>
          <p:cNvPr id="13" name="Shape 11"/>
          <p:cNvSpPr/>
          <p:nvPr/>
        </p:nvSpPr>
        <p:spPr>
          <a:xfrm>
            <a:off x="9272016" y="2148840"/>
            <a:ext cx="182880" cy="182880"/>
          </a:xfrm>
          <a:prstGeom prst="ellipse">
            <a:avLst/>
          </a:prstGeom>
          <a:solidFill>
            <a:srgbClr val="ED1C24"/>
          </a:solidFill>
          <a:ln/>
        </p:spPr>
      </p:sp>
      <p:sp>
        <p:nvSpPr>
          <p:cNvPr id="14" name="Shape 12"/>
          <p:cNvSpPr/>
          <p:nvPr/>
        </p:nvSpPr>
        <p:spPr>
          <a:xfrm>
            <a:off x="9573768" y="2148840"/>
            <a:ext cx="182880" cy="182880"/>
          </a:xfrm>
          <a:prstGeom prst="ellipse">
            <a:avLst/>
          </a:prstGeom>
          <a:solidFill>
            <a:srgbClr val="FFFFFF"/>
          </a:solidFill>
          <a:ln w="15875">
            <a:solidFill>
              <a:srgbClr val="E3E5E8"/>
            </a:solidFill>
            <a:prstDash val="solid"/>
          </a:ln>
        </p:spPr>
      </p:sp>
      <p:sp>
        <p:nvSpPr>
          <p:cNvPr id="15" name="Shape 13"/>
          <p:cNvSpPr/>
          <p:nvPr/>
        </p:nvSpPr>
        <p:spPr>
          <a:xfrm>
            <a:off x="9875520" y="2148840"/>
            <a:ext cx="182880" cy="182880"/>
          </a:xfrm>
          <a:prstGeom prst="ellipse">
            <a:avLst/>
          </a:prstGeom>
          <a:solidFill>
            <a:srgbClr val="FFFFFF"/>
          </a:solidFill>
          <a:ln w="15875">
            <a:solidFill>
              <a:srgbClr val="E3E5E8"/>
            </a:solidFill>
            <a:prstDash val="solid"/>
          </a:ln>
        </p:spPr>
      </p:sp>
      <p:sp>
        <p:nvSpPr>
          <p:cNvPr id="16" name="Shape 14"/>
          <p:cNvSpPr/>
          <p:nvPr/>
        </p:nvSpPr>
        <p:spPr>
          <a:xfrm>
            <a:off x="10177272" y="2148840"/>
            <a:ext cx="182880" cy="182880"/>
          </a:xfrm>
          <a:prstGeom prst="ellipse">
            <a:avLst/>
          </a:prstGeom>
          <a:solidFill>
            <a:srgbClr val="FFFFFF"/>
          </a:solidFill>
          <a:ln w="15875">
            <a:solidFill>
              <a:srgbClr val="E3E5E8"/>
            </a:solidFill>
            <a:prstDash val="solid"/>
          </a:ln>
        </p:spPr>
      </p:sp>
      <p:sp>
        <p:nvSpPr>
          <p:cNvPr id="17" name="Shape 15"/>
          <p:cNvSpPr/>
          <p:nvPr/>
        </p:nvSpPr>
        <p:spPr>
          <a:xfrm>
            <a:off x="10479024" y="2148840"/>
            <a:ext cx="182880" cy="182880"/>
          </a:xfrm>
          <a:prstGeom prst="ellipse">
            <a:avLst/>
          </a:prstGeom>
          <a:solidFill>
            <a:srgbClr val="FFFFFF"/>
          </a:solidFill>
          <a:ln w="15875">
            <a:solidFill>
              <a:srgbClr val="E3E5E8"/>
            </a:solidFill>
            <a:prstDash val="solid"/>
          </a:ln>
        </p:spPr>
      </p:sp>
      <p:sp>
        <p:nvSpPr>
          <p:cNvPr id="18" name="Shape 16"/>
          <p:cNvSpPr/>
          <p:nvPr/>
        </p:nvSpPr>
        <p:spPr>
          <a:xfrm>
            <a:off x="10780776" y="2148840"/>
            <a:ext cx="182880" cy="182880"/>
          </a:xfrm>
          <a:prstGeom prst="ellipse">
            <a:avLst/>
          </a:prstGeom>
          <a:solidFill>
            <a:srgbClr val="FFFFFF"/>
          </a:solidFill>
          <a:ln w="15875">
            <a:solidFill>
              <a:srgbClr val="E3E5E8"/>
            </a:solidFill>
            <a:prstDash val="solid"/>
          </a:ln>
        </p:spPr>
      </p:sp>
      <p:sp>
        <p:nvSpPr>
          <p:cNvPr id="19" name="Shape 17"/>
          <p:cNvSpPr/>
          <p:nvPr/>
        </p:nvSpPr>
        <p:spPr>
          <a:xfrm>
            <a:off x="11082528" y="2148840"/>
            <a:ext cx="182880" cy="182880"/>
          </a:xfrm>
          <a:prstGeom prst="ellipse">
            <a:avLst/>
          </a:prstGeom>
          <a:solidFill>
            <a:srgbClr val="FFFFFF"/>
          </a:solidFill>
          <a:ln w="15875">
            <a:solidFill>
              <a:srgbClr val="E3E5E8"/>
            </a:solidFill>
            <a:prstDash val="solid"/>
          </a:ln>
        </p:spPr>
      </p:sp>
      <p:sp>
        <p:nvSpPr>
          <p:cNvPr id="20" name="Shape 18"/>
          <p:cNvSpPr/>
          <p:nvPr/>
        </p:nvSpPr>
        <p:spPr>
          <a:xfrm>
            <a:off x="8366760" y="2450592"/>
            <a:ext cx="182880" cy="182880"/>
          </a:xfrm>
          <a:prstGeom prst="ellipse">
            <a:avLst/>
          </a:prstGeom>
          <a:solidFill>
            <a:srgbClr val="FFFFFF"/>
          </a:solidFill>
          <a:ln w="15875">
            <a:solidFill>
              <a:srgbClr val="E3E5E8"/>
            </a:solidFill>
            <a:prstDash val="solid"/>
          </a:ln>
        </p:spPr>
      </p:sp>
      <p:sp>
        <p:nvSpPr>
          <p:cNvPr id="21" name="Shape 19"/>
          <p:cNvSpPr/>
          <p:nvPr/>
        </p:nvSpPr>
        <p:spPr>
          <a:xfrm>
            <a:off x="8668512" y="2450592"/>
            <a:ext cx="182880" cy="182880"/>
          </a:xfrm>
          <a:prstGeom prst="ellipse">
            <a:avLst/>
          </a:prstGeom>
          <a:solidFill>
            <a:srgbClr val="FFFFFF"/>
          </a:solidFill>
          <a:ln w="15875">
            <a:solidFill>
              <a:srgbClr val="E3E5E8"/>
            </a:solidFill>
            <a:prstDash val="solid"/>
          </a:ln>
        </p:spPr>
      </p:sp>
      <p:sp>
        <p:nvSpPr>
          <p:cNvPr id="22" name="Shape 20"/>
          <p:cNvSpPr/>
          <p:nvPr/>
        </p:nvSpPr>
        <p:spPr>
          <a:xfrm>
            <a:off x="8970264" y="2450592"/>
            <a:ext cx="182880" cy="182880"/>
          </a:xfrm>
          <a:prstGeom prst="ellipse">
            <a:avLst/>
          </a:prstGeom>
          <a:solidFill>
            <a:srgbClr val="FFFFFF"/>
          </a:solidFill>
          <a:ln w="15875">
            <a:solidFill>
              <a:srgbClr val="E3E5E8"/>
            </a:solidFill>
            <a:prstDash val="solid"/>
          </a:ln>
        </p:spPr>
      </p:sp>
      <p:sp>
        <p:nvSpPr>
          <p:cNvPr id="23" name="Shape 21"/>
          <p:cNvSpPr/>
          <p:nvPr/>
        </p:nvSpPr>
        <p:spPr>
          <a:xfrm>
            <a:off x="9272016" y="2450592"/>
            <a:ext cx="182880" cy="182880"/>
          </a:xfrm>
          <a:prstGeom prst="ellipse">
            <a:avLst/>
          </a:prstGeom>
          <a:solidFill>
            <a:srgbClr val="FFFFFF"/>
          </a:solidFill>
          <a:ln w="15875">
            <a:solidFill>
              <a:srgbClr val="E3E5E8"/>
            </a:solidFill>
            <a:prstDash val="solid"/>
          </a:ln>
        </p:spPr>
      </p:sp>
      <p:sp>
        <p:nvSpPr>
          <p:cNvPr id="24" name="Shape 22"/>
          <p:cNvSpPr/>
          <p:nvPr/>
        </p:nvSpPr>
        <p:spPr>
          <a:xfrm>
            <a:off x="9573768" y="2450592"/>
            <a:ext cx="182880" cy="182880"/>
          </a:xfrm>
          <a:prstGeom prst="ellipse">
            <a:avLst/>
          </a:prstGeom>
          <a:solidFill>
            <a:srgbClr val="FFFFFF"/>
          </a:solidFill>
          <a:ln w="15875">
            <a:solidFill>
              <a:srgbClr val="E3E5E8"/>
            </a:solidFill>
            <a:prstDash val="solid"/>
          </a:ln>
        </p:spPr>
      </p:sp>
      <p:sp>
        <p:nvSpPr>
          <p:cNvPr id="25" name="Shape 23"/>
          <p:cNvSpPr/>
          <p:nvPr/>
        </p:nvSpPr>
        <p:spPr>
          <a:xfrm>
            <a:off x="9875520" y="2450592"/>
            <a:ext cx="182880" cy="182880"/>
          </a:xfrm>
          <a:prstGeom prst="ellipse">
            <a:avLst/>
          </a:prstGeom>
          <a:solidFill>
            <a:srgbClr val="FFFFFF"/>
          </a:solidFill>
          <a:ln w="15875">
            <a:solidFill>
              <a:srgbClr val="E3E5E8"/>
            </a:solidFill>
            <a:prstDash val="solid"/>
          </a:ln>
        </p:spPr>
      </p:sp>
      <p:sp>
        <p:nvSpPr>
          <p:cNvPr id="26" name="Shape 24"/>
          <p:cNvSpPr/>
          <p:nvPr/>
        </p:nvSpPr>
        <p:spPr>
          <a:xfrm>
            <a:off x="10177272" y="2450592"/>
            <a:ext cx="182880" cy="182880"/>
          </a:xfrm>
          <a:prstGeom prst="ellipse">
            <a:avLst/>
          </a:prstGeom>
          <a:solidFill>
            <a:srgbClr val="FFFFFF"/>
          </a:solidFill>
          <a:ln w="15875">
            <a:solidFill>
              <a:srgbClr val="E3E5E8"/>
            </a:solidFill>
            <a:prstDash val="solid"/>
          </a:ln>
        </p:spPr>
      </p:sp>
      <p:sp>
        <p:nvSpPr>
          <p:cNvPr id="27" name="Shape 25"/>
          <p:cNvSpPr/>
          <p:nvPr/>
        </p:nvSpPr>
        <p:spPr>
          <a:xfrm>
            <a:off x="10479024" y="2450592"/>
            <a:ext cx="182880" cy="182880"/>
          </a:xfrm>
          <a:prstGeom prst="ellipse">
            <a:avLst/>
          </a:prstGeom>
          <a:solidFill>
            <a:srgbClr val="ED1C24"/>
          </a:solidFill>
          <a:ln/>
        </p:spPr>
      </p:sp>
      <p:sp>
        <p:nvSpPr>
          <p:cNvPr id="28" name="Shape 26"/>
          <p:cNvSpPr/>
          <p:nvPr/>
        </p:nvSpPr>
        <p:spPr>
          <a:xfrm>
            <a:off x="10780776" y="2450592"/>
            <a:ext cx="182880" cy="182880"/>
          </a:xfrm>
          <a:prstGeom prst="ellipse">
            <a:avLst/>
          </a:prstGeom>
          <a:solidFill>
            <a:srgbClr val="FFFFFF"/>
          </a:solidFill>
          <a:ln w="15875">
            <a:solidFill>
              <a:srgbClr val="E3E5E8"/>
            </a:solidFill>
            <a:prstDash val="solid"/>
          </a:ln>
        </p:spPr>
      </p:sp>
      <p:sp>
        <p:nvSpPr>
          <p:cNvPr id="29" name="Shape 27"/>
          <p:cNvSpPr/>
          <p:nvPr/>
        </p:nvSpPr>
        <p:spPr>
          <a:xfrm>
            <a:off x="11082528" y="2450592"/>
            <a:ext cx="182880" cy="182880"/>
          </a:xfrm>
          <a:prstGeom prst="ellipse">
            <a:avLst/>
          </a:prstGeom>
          <a:solidFill>
            <a:srgbClr val="FFFFFF"/>
          </a:solidFill>
          <a:ln w="15875">
            <a:solidFill>
              <a:srgbClr val="E3E5E8"/>
            </a:solidFill>
            <a:prstDash val="solid"/>
          </a:ln>
        </p:spPr>
      </p:sp>
      <p:sp>
        <p:nvSpPr>
          <p:cNvPr id="30" name="Shape 28"/>
          <p:cNvSpPr/>
          <p:nvPr/>
        </p:nvSpPr>
        <p:spPr>
          <a:xfrm>
            <a:off x="8366760" y="2752344"/>
            <a:ext cx="182880" cy="182880"/>
          </a:xfrm>
          <a:prstGeom prst="ellipse">
            <a:avLst/>
          </a:prstGeom>
          <a:solidFill>
            <a:srgbClr val="FFFFFF"/>
          </a:solidFill>
          <a:ln w="15875">
            <a:solidFill>
              <a:srgbClr val="E3E5E8"/>
            </a:solidFill>
            <a:prstDash val="solid"/>
          </a:ln>
        </p:spPr>
      </p:sp>
      <p:sp>
        <p:nvSpPr>
          <p:cNvPr id="31" name="Shape 29"/>
          <p:cNvSpPr/>
          <p:nvPr/>
        </p:nvSpPr>
        <p:spPr>
          <a:xfrm>
            <a:off x="8668512" y="2752344"/>
            <a:ext cx="182880" cy="182880"/>
          </a:xfrm>
          <a:prstGeom prst="ellipse">
            <a:avLst/>
          </a:prstGeom>
          <a:solidFill>
            <a:srgbClr val="FFFFFF"/>
          </a:solidFill>
          <a:ln w="15875">
            <a:solidFill>
              <a:srgbClr val="E3E5E8"/>
            </a:solidFill>
            <a:prstDash val="solid"/>
          </a:ln>
        </p:spPr>
      </p:sp>
      <p:sp>
        <p:nvSpPr>
          <p:cNvPr id="32" name="Shape 30"/>
          <p:cNvSpPr/>
          <p:nvPr/>
        </p:nvSpPr>
        <p:spPr>
          <a:xfrm>
            <a:off x="8970264" y="2752344"/>
            <a:ext cx="182880" cy="182880"/>
          </a:xfrm>
          <a:prstGeom prst="ellipse">
            <a:avLst/>
          </a:prstGeom>
          <a:solidFill>
            <a:srgbClr val="FFFFFF"/>
          </a:solidFill>
          <a:ln w="15875">
            <a:solidFill>
              <a:srgbClr val="E3E5E8"/>
            </a:solidFill>
            <a:prstDash val="solid"/>
          </a:ln>
        </p:spPr>
      </p:sp>
      <p:sp>
        <p:nvSpPr>
          <p:cNvPr id="33" name="Shape 31"/>
          <p:cNvSpPr/>
          <p:nvPr/>
        </p:nvSpPr>
        <p:spPr>
          <a:xfrm>
            <a:off x="9272016" y="2752344"/>
            <a:ext cx="182880" cy="182880"/>
          </a:xfrm>
          <a:prstGeom prst="ellipse">
            <a:avLst/>
          </a:prstGeom>
          <a:solidFill>
            <a:srgbClr val="FFFFFF"/>
          </a:solidFill>
          <a:ln w="15875">
            <a:solidFill>
              <a:srgbClr val="E3E5E8"/>
            </a:solidFill>
            <a:prstDash val="solid"/>
          </a:ln>
        </p:spPr>
      </p:sp>
      <p:sp>
        <p:nvSpPr>
          <p:cNvPr id="34" name="Shape 32"/>
          <p:cNvSpPr/>
          <p:nvPr/>
        </p:nvSpPr>
        <p:spPr>
          <a:xfrm>
            <a:off x="9573768" y="2752344"/>
            <a:ext cx="182880" cy="182880"/>
          </a:xfrm>
          <a:prstGeom prst="ellipse">
            <a:avLst/>
          </a:prstGeom>
          <a:solidFill>
            <a:srgbClr val="ED1C24"/>
          </a:solidFill>
          <a:ln/>
        </p:spPr>
      </p:sp>
      <p:sp>
        <p:nvSpPr>
          <p:cNvPr id="35" name="Shape 33"/>
          <p:cNvSpPr/>
          <p:nvPr/>
        </p:nvSpPr>
        <p:spPr>
          <a:xfrm>
            <a:off x="9875520" y="2752344"/>
            <a:ext cx="182880" cy="182880"/>
          </a:xfrm>
          <a:prstGeom prst="ellipse">
            <a:avLst/>
          </a:prstGeom>
          <a:solidFill>
            <a:srgbClr val="FFFFFF"/>
          </a:solidFill>
          <a:ln w="15875">
            <a:solidFill>
              <a:srgbClr val="E3E5E8"/>
            </a:solidFill>
            <a:prstDash val="solid"/>
          </a:ln>
        </p:spPr>
      </p:sp>
      <p:sp>
        <p:nvSpPr>
          <p:cNvPr id="36" name="Shape 34"/>
          <p:cNvSpPr/>
          <p:nvPr/>
        </p:nvSpPr>
        <p:spPr>
          <a:xfrm>
            <a:off x="10177272" y="2752344"/>
            <a:ext cx="182880" cy="182880"/>
          </a:xfrm>
          <a:prstGeom prst="ellipse">
            <a:avLst/>
          </a:prstGeom>
          <a:solidFill>
            <a:srgbClr val="FFFFFF"/>
          </a:solidFill>
          <a:ln w="15875">
            <a:solidFill>
              <a:srgbClr val="E3E5E8"/>
            </a:solidFill>
            <a:prstDash val="solid"/>
          </a:ln>
        </p:spPr>
      </p:sp>
      <p:sp>
        <p:nvSpPr>
          <p:cNvPr id="37" name="Shape 35"/>
          <p:cNvSpPr/>
          <p:nvPr/>
        </p:nvSpPr>
        <p:spPr>
          <a:xfrm>
            <a:off x="10479024" y="2752344"/>
            <a:ext cx="182880" cy="182880"/>
          </a:xfrm>
          <a:prstGeom prst="ellipse">
            <a:avLst/>
          </a:prstGeom>
          <a:solidFill>
            <a:srgbClr val="FFFFFF"/>
          </a:solidFill>
          <a:ln w="15875">
            <a:solidFill>
              <a:srgbClr val="E3E5E8"/>
            </a:solidFill>
            <a:prstDash val="solid"/>
          </a:ln>
        </p:spPr>
      </p:sp>
      <p:sp>
        <p:nvSpPr>
          <p:cNvPr id="38" name="Shape 36"/>
          <p:cNvSpPr/>
          <p:nvPr/>
        </p:nvSpPr>
        <p:spPr>
          <a:xfrm>
            <a:off x="10780776" y="2752344"/>
            <a:ext cx="182880" cy="182880"/>
          </a:xfrm>
          <a:prstGeom prst="ellipse">
            <a:avLst/>
          </a:prstGeom>
          <a:solidFill>
            <a:srgbClr val="FFFFFF"/>
          </a:solidFill>
          <a:ln w="15875">
            <a:solidFill>
              <a:srgbClr val="E3E5E8"/>
            </a:solidFill>
            <a:prstDash val="solid"/>
          </a:ln>
        </p:spPr>
      </p:sp>
      <p:sp>
        <p:nvSpPr>
          <p:cNvPr id="39" name="Shape 37"/>
          <p:cNvSpPr/>
          <p:nvPr/>
        </p:nvSpPr>
        <p:spPr>
          <a:xfrm>
            <a:off x="11082528" y="2752344"/>
            <a:ext cx="182880" cy="182880"/>
          </a:xfrm>
          <a:prstGeom prst="ellipse">
            <a:avLst/>
          </a:prstGeom>
          <a:solidFill>
            <a:srgbClr val="FFFFFF"/>
          </a:solidFill>
          <a:ln w="15875">
            <a:solidFill>
              <a:srgbClr val="E3E5E8"/>
            </a:solidFill>
            <a:prstDash val="solid"/>
          </a:ln>
        </p:spPr>
      </p:sp>
      <p:sp>
        <p:nvSpPr>
          <p:cNvPr id="40" name="Shape 38"/>
          <p:cNvSpPr/>
          <p:nvPr/>
        </p:nvSpPr>
        <p:spPr>
          <a:xfrm>
            <a:off x="8366760" y="3054096"/>
            <a:ext cx="182880" cy="182880"/>
          </a:xfrm>
          <a:prstGeom prst="ellipse">
            <a:avLst/>
          </a:prstGeom>
          <a:solidFill>
            <a:srgbClr val="FFFFFF"/>
          </a:solidFill>
          <a:ln w="15875">
            <a:solidFill>
              <a:srgbClr val="E3E5E8"/>
            </a:solidFill>
            <a:prstDash val="solid"/>
          </a:ln>
        </p:spPr>
      </p:sp>
      <p:sp>
        <p:nvSpPr>
          <p:cNvPr id="41" name="Shape 39"/>
          <p:cNvSpPr/>
          <p:nvPr/>
        </p:nvSpPr>
        <p:spPr>
          <a:xfrm>
            <a:off x="8668512" y="3054096"/>
            <a:ext cx="182880" cy="182880"/>
          </a:xfrm>
          <a:prstGeom prst="ellipse">
            <a:avLst/>
          </a:prstGeom>
          <a:solidFill>
            <a:srgbClr val="FFFFFF"/>
          </a:solidFill>
          <a:ln w="15875">
            <a:solidFill>
              <a:srgbClr val="E3E5E8"/>
            </a:solidFill>
            <a:prstDash val="solid"/>
          </a:ln>
        </p:spPr>
      </p:sp>
      <p:sp>
        <p:nvSpPr>
          <p:cNvPr id="42" name="Shape 40"/>
          <p:cNvSpPr/>
          <p:nvPr/>
        </p:nvSpPr>
        <p:spPr>
          <a:xfrm>
            <a:off x="8970264" y="3054096"/>
            <a:ext cx="182880" cy="182880"/>
          </a:xfrm>
          <a:prstGeom prst="ellipse">
            <a:avLst/>
          </a:prstGeom>
          <a:solidFill>
            <a:srgbClr val="FFFFFF"/>
          </a:solidFill>
          <a:ln w="15875">
            <a:solidFill>
              <a:srgbClr val="E3E5E8"/>
            </a:solidFill>
            <a:prstDash val="solid"/>
          </a:ln>
        </p:spPr>
      </p:sp>
      <p:sp>
        <p:nvSpPr>
          <p:cNvPr id="43" name="Shape 41"/>
          <p:cNvSpPr/>
          <p:nvPr/>
        </p:nvSpPr>
        <p:spPr>
          <a:xfrm>
            <a:off x="9272016" y="3054096"/>
            <a:ext cx="182880" cy="182880"/>
          </a:xfrm>
          <a:prstGeom prst="ellipse">
            <a:avLst/>
          </a:prstGeom>
          <a:solidFill>
            <a:srgbClr val="FFFFFF"/>
          </a:solidFill>
          <a:ln w="15875">
            <a:solidFill>
              <a:srgbClr val="E3E5E8"/>
            </a:solidFill>
            <a:prstDash val="solid"/>
          </a:ln>
        </p:spPr>
      </p:sp>
      <p:sp>
        <p:nvSpPr>
          <p:cNvPr id="44" name="Shape 42"/>
          <p:cNvSpPr/>
          <p:nvPr/>
        </p:nvSpPr>
        <p:spPr>
          <a:xfrm>
            <a:off x="9573768" y="3054096"/>
            <a:ext cx="182880" cy="182880"/>
          </a:xfrm>
          <a:prstGeom prst="ellipse">
            <a:avLst/>
          </a:prstGeom>
          <a:solidFill>
            <a:srgbClr val="FFFFFF"/>
          </a:solidFill>
          <a:ln w="15875">
            <a:solidFill>
              <a:srgbClr val="E3E5E8"/>
            </a:solidFill>
            <a:prstDash val="solid"/>
          </a:ln>
        </p:spPr>
      </p:sp>
      <p:sp>
        <p:nvSpPr>
          <p:cNvPr id="45" name="Shape 43"/>
          <p:cNvSpPr/>
          <p:nvPr/>
        </p:nvSpPr>
        <p:spPr>
          <a:xfrm>
            <a:off x="9875520" y="3054096"/>
            <a:ext cx="182880" cy="182880"/>
          </a:xfrm>
          <a:prstGeom prst="ellipse">
            <a:avLst/>
          </a:prstGeom>
          <a:solidFill>
            <a:srgbClr val="FFFFFF"/>
          </a:solidFill>
          <a:ln w="15875">
            <a:solidFill>
              <a:srgbClr val="E3E5E8"/>
            </a:solidFill>
            <a:prstDash val="solid"/>
          </a:ln>
        </p:spPr>
      </p:sp>
      <p:sp>
        <p:nvSpPr>
          <p:cNvPr id="46" name="Shape 44"/>
          <p:cNvSpPr/>
          <p:nvPr/>
        </p:nvSpPr>
        <p:spPr>
          <a:xfrm>
            <a:off x="10177272" y="3054096"/>
            <a:ext cx="182880" cy="182880"/>
          </a:xfrm>
          <a:prstGeom prst="ellipse">
            <a:avLst/>
          </a:prstGeom>
          <a:solidFill>
            <a:srgbClr val="FFFFFF"/>
          </a:solidFill>
          <a:ln w="15875">
            <a:solidFill>
              <a:srgbClr val="E3E5E8"/>
            </a:solidFill>
            <a:prstDash val="solid"/>
          </a:ln>
        </p:spPr>
      </p:sp>
      <p:sp>
        <p:nvSpPr>
          <p:cNvPr id="47" name="Shape 45"/>
          <p:cNvSpPr/>
          <p:nvPr/>
        </p:nvSpPr>
        <p:spPr>
          <a:xfrm>
            <a:off x="10479024" y="3054096"/>
            <a:ext cx="182880" cy="182880"/>
          </a:xfrm>
          <a:prstGeom prst="ellipse">
            <a:avLst/>
          </a:prstGeom>
          <a:solidFill>
            <a:srgbClr val="FFFFFF"/>
          </a:solidFill>
          <a:ln w="15875">
            <a:solidFill>
              <a:srgbClr val="E3E5E8"/>
            </a:solidFill>
            <a:prstDash val="solid"/>
          </a:ln>
        </p:spPr>
      </p:sp>
      <p:sp>
        <p:nvSpPr>
          <p:cNvPr id="48" name="Shape 46"/>
          <p:cNvSpPr/>
          <p:nvPr/>
        </p:nvSpPr>
        <p:spPr>
          <a:xfrm>
            <a:off x="10780776" y="3054096"/>
            <a:ext cx="182880" cy="182880"/>
          </a:xfrm>
          <a:prstGeom prst="ellipse">
            <a:avLst/>
          </a:prstGeom>
          <a:solidFill>
            <a:srgbClr val="FFFFFF"/>
          </a:solidFill>
          <a:ln w="15875">
            <a:solidFill>
              <a:srgbClr val="E3E5E8"/>
            </a:solidFill>
            <a:prstDash val="solid"/>
          </a:ln>
        </p:spPr>
      </p:sp>
      <p:sp>
        <p:nvSpPr>
          <p:cNvPr id="49" name="Shape 47"/>
          <p:cNvSpPr/>
          <p:nvPr/>
        </p:nvSpPr>
        <p:spPr>
          <a:xfrm>
            <a:off x="11082528" y="3054096"/>
            <a:ext cx="182880" cy="182880"/>
          </a:xfrm>
          <a:prstGeom prst="ellipse">
            <a:avLst/>
          </a:prstGeom>
          <a:solidFill>
            <a:srgbClr val="FFFFFF"/>
          </a:solidFill>
          <a:ln w="15875">
            <a:solidFill>
              <a:srgbClr val="E3E5E8"/>
            </a:solidFill>
            <a:prstDash val="solid"/>
          </a:ln>
        </p:spPr>
      </p:sp>
      <p:sp>
        <p:nvSpPr>
          <p:cNvPr id="50" name="Shape 48"/>
          <p:cNvSpPr/>
          <p:nvPr/>
        </p:nvSpPr>
        <p:spPr>
          <a:xfrm>
            <a:off x="8366760" y="3355848"/>
            <a:ext cx="182880" cy="182880"/>
          </a:xfrm>
          <a:prstGeom prst="ellipse">
            <a:avLst/>
          </a:prstGeom>
          <a:solidFill>
            <a:srgbClr val="FFFFFF"/>
          </a:solidFill>
          <a:ln w="15875">
            <a:solidFill>
              <a:srgbClr val="E3E5E8"/>
            </a:solidFill>
            <a:prstDash val="solid"/>
          </a:ln>
        </p:spPr>
      </p:sp>
      <p:sp>
        <p:nvSpPr>
          <p:cNvPr id="51" name="Shape 49"/>
          <p:cNvSpPr/>
          <p:nvPr/>
        </p:nvSpPr>
        <p:spPr>
          <a:xfrm>
            <a:off x="8668512" y="3355848"/>
            <a:ext cx="182880" cy="182880"/>
          </a:xfrm>
          <a:prstGeom prst="ellipse">
            <a:avLst/>
          </a:prstGeom>
          <a:solidFill>
            <a:srgbClr val="ED1C24"/>
          </a:solidFill>
          <a:ln/>
        </p:spPr>
      </p:sp>
      <p:sp>
        <p:nvSpPr>
          <p:cNvPr id="52" name="Shape 50"/>
          <p:cNvSpPr/>
          <p:nvPr/>
        </p:nvSpPr>
        <p:spPr>
          <a:xfrm>
            <a:off x="8970264" y="3355848"/>
            <a:ext cx="182880" cy="182880"/>
          </a:xfrm>
          <a:prstGeom prst="ellipse">
            <a:avLst/>
          </a:prstGeom>
          <a:solidFill>
            <a:srgbClr val="FFFFFF"/>
          </a:solidFill>
          <a:ln w="15875">
            <a:solidFill>
              <a:srgbClr val="E3E5E8"/>
            </a:solidFill>
            <a:prstDash val="solid"/>
          </a:ln>
        </p:spPr>
      </p:sp>
      <p:sp>
        <p:nvSpPr>
          <p:cNvPr id="53" name="Shape 51"/>
          <p:cNvSpPr/>
          <p:nvPr/>
        </p:nvSpPr>
        <p:spPr>
          <a:xfrm>
            <a:off x="9272016" y="3355848"/>
            <a:ext cx="182880" cy="182880"/>
          </a:xfrm>
          <a:prstGeom prst="ellipse">
            <a:avLst/>
          </a:prstGeom>
          <a:solidFill>
            <a:srgbClr val="FFFFFF"/>
          </a:solidFill>
          <a:ln w="15875">
            <a:solidFill>
              <a:srgbClr val="E3E5E8"/>
            </a:solidFill>
            <a:prstDash val="solid"/>
          </a:ln>
        </p:spPr>
      </p:sp>
      <p:sp>
        <p:nvSpPr>
          <p:cNvPr id="54" name="Shape 52"/>
          <p:cNvSpPr/>
          <p:nvPr/>
        </p:nvSpPr>
        <p:spPr>
          <a:xfrm>
            <a:off x="9573768" y="3355848"/>
            <a:ext cx="182880" cy="182880"/>
          </a:xfrm>
          <a:prstGeom prst="ellipse">
            <a:avLst/>
          </a:prstGeom>
          <a:solidFill>
            <a:srgbClr val="FFFFFF"/>
          </a:solidFill>
          <a:ln w="15875">
            <a:solidFill>
              <a:srgbClr val="E3E5E8"/>
            </a:solidFill>
            <a:prstDash val="solid"/>
          </a:ln>
        </p:spPr>
      </p:sp>
      <p:sp>
        <p:nvSpPr>
          <p:cNvPr id="55" name="Shape 53"/>
          <p:cNvSpPr/>
          <p:nvPr/>
        </p:nvSpPr>
        <p:spPr>
          <a:xfrm>
            <a:off x="9875520" y="3355848"/>
            <a:ext cx="182880" cy="182880"/>
          </a:xfrm>
          <a:prstGeom prst="ellipse">
            <a:avLst/>
          </a:prstGeom>
          <a:solidFill>
            <a:srgbClr val="FFFFFF"/>
          </a:solidFill>
          <a:ln w="15875">
            <a:solidFill>
              <a:srgbClr val="E3E5E8"/>
            </a:solidFill>
            <a:prstDash val="solid"/>
          </a:ln>
        </p:spPr>
      </p:sp>
      <p:sp>
        <p:nvSpPr>
          <p:cNvPr id="56" name="Shape 54"/>
          <p:cNvSpPr/>
          <p:nvPr/>
        </p:nvSpPr>
        <p:spPr>
          <a:xfrm>
            <a:off x="10177272" y="3355848"/>
            <a:ext cx="182880" cy="182880"/>
          </a:xfrm>
          <a:prstGeom prst="ellipse">
            <a:avLst/>
          </a:prstGeom>
          <a:solidFill>
            <a:srgbClr val="FFFFFF"/>
          </a:solidFill>
          <a:ln w="15875">
            <a:solidFill>
              <a:srgbClr val="E3E5E8"/>
            </a:solidFill>
            <a:prstDash val="solid"/>
          </a:ln>
        </p:spPr>
      </p:sp>
      <p:sp>
        <p:nvSpPr>
          <p:cNvPr id="57" name="Shape 55"/>
          <p:cNvSpPr/>
          <p:nvPr/>
        </p:nvSpPr>
        <p:spPr>
          <a:xfrm>
            <a:off x="10479024" y="3355848"/>
            <a:ext cx="182880" cy="182880"/>
          </a:xfrm>
          <a:prstGeom prst="ellipse">
            <a:avLst/>
          </a:prstGeom>
          <a:solidFill>
            <a:srgbClr val="FFFFFF"/>
          </a:solidFill>
          <a:ln w="15875">
            <a:solidFill>
              <a:srgbClr val="E3E5E8"/>
            </a:solidFill>
            <a:prstDash val="solid"/>
          </a:ln>
        </p:spPr>
      </p:sp>
      <p:sp>
        <p:nvSpPr>
          <p:cNvPr id="58" name="Shape 56"/>
          <p:cNvSpPr/>
          <p:nvPr/>
        </p:nvSpPr>
        <p:spPr>
          <a:xfrm>
            <a:off x="10780776" y="3355848"/>
            <a:ext cx="182880" cy="182880"/>
          </a:xfrm>
          <a:prstGeom prst="ellipse">
            <a:avLst/>
          </a:prstGeom>
          <a:solidFill>
            <a:srgbClr val="FFFFFF"/>
          </a:solidFill>
          <a:ln w="15875">
            <a:solidFill>
              <a:srgbClr val="E3E5E8"/>
            </a:solidFill>
            <a:prstDash val="solid"/>
          </a:ln>
        </p:spPr>
      </p:sp>
      <p:sp>
        <p:nvSpPr>
          <p:cNvPr id="59" name="Shape 57"/>
          <p:cNvSpPr/>
          <p:nvPr/>
        </p:nvSpPr>
        <p:spPr>
          <a:xfrm>
            <a:off x="11082528" y="3355848"/>
            <a:ext cx="182880" cy="182880"/>
          </a:xfrm>
          <a:prstGeom prst="ellipse">
            <a:avLst/>
          </a:prstGeom>
          <a:solidFill>
            <a:srgbClr val="FFFFFF"/>
          </a:solidFill>
          <a:ln w="15875">
            <a:solidFill>
              <a:srgbClr val="E3E5E8"/>
            </a:solidFill>
            <a:prstDash val="solid"/>
          </a:ln>
        </p:spPr>
      </p:sp>
      <p:sp>
        <p:nvSpPr>
          <p:cNvPr id="60" name="Shape 58"/>
          <p:cNvSpPr/>
          <p:nvPr/>
        </p:nvSpPr>
        <p:spPr>
          <a:xfrm>
            <a:off x="8366760" y="3657600"/>
            <a:ext cx="182880" cy="182880"/>
          </a:xfrm>
          <a:prstGeom prst="ellipse">
            <a:avLst/>
          </a:prstGeom>
          <a:solidFill>
            <a:srgbClr val="FFFFFF"/>
          </a:solidFill>
          <a:ln w="15875">
            <a:solidFill>
              <a:srgbClr val="E3E5E8"/>
            </a:solidFill>
            <a:prstDash val="solid"/>
          </a:ln>
        </p:spPr>
      </p:sp>
      <p:sp>
        <p:nvSpPr>
          <p:cNvPr id="61" name="Shape 59"/>
          <p:cNvSpPr/>
          <p:nvPr/>
        </p:nvSpPr>
        <p:spPr>
          <a:xfrm>
            <a:off x="8668512" y="3657600"/>
            <a:ext cx="182880" cy="182880"/>
          </a:xfrm>
          <a:prstGeom prst="ellipse">
            <a:avLst/>
          </a:prstGeom>
          <a:solidFill>
            <a:srgbClr val="FFFFFF"/>
          </a:solidFill>
          <a:ln w="15875">
            <a:solidFill>
              <a:srgbClr val="E3E5E8"/>
            </a:solidFill>
            <a:prstDash val="solid"/>
          </a:ln>
        </p:spPr>
      </p:sp>
      <p:sp>
        <p:nvSpPr>
          <p:cNvPr id="62" name="Shape 60"/>
          <p:cNvSpPr/>
          <p:nvPr/>
        </p:nvSpPr>
        <p:spPr>
          <a:xfrm>
            <a:off x="8970264" y="3657600"/>
            <a:ext cx="182880" cy="182880"/>
          </a:xfrm>
          <a:prstGeom prst="ellipse">
            <a:avLst/>
          </a:prstGeom>
          <a:solidFill>
            <a:srgbClr val="FFFFFF"/>
          </a:solidFill>
          <a:ln w="15875">
            <a:solidFill>
              <a:srgbClr val="E3E5E8"/>
            </a:solidFill>
            <a:prstDash val="solid"/>
          </a:ln>
        </p:spPr>
      </p:sp>
      <p:sp>
        <p:nvSpPr>
          <p:cNvPr id="63" name="Shape 61"/>
          <p:cNvSpPr/>
          <p:nvPr/>
        </p:nvSpPr>
        <p:spPr>
          <a:xfrm>
            <a:off x="9272016" y="3657600"/>
            <a:ext cx="182880" cy="182880"/>
          </a:xfrm>
          <a:prstGeom prst="ellipse">
            <a:avLst/>
          </a:prstGeom>
          <a:solidFill>
            <a:srgbClr val="FFFFFF"/>
          </a:solidFill>
          <a:ln w="15875">
            <a:solidFill>
              <a:srgbClr val="E3E5E8"/>
            </a:solidFill>
            <a:prstDash val="solid"/>
          </a:ln>
        </p:spPr>
      </p:sp>
      <p:sp>
        <p:nvSpPr>
          <p:cNvPr id="64" name="Shape 62"/>
          <p:cNvSpPr/>
          <p:nvPr/>
        </p:nvSpPr>
        <p:spPr>
          <a:xfrm>
            <a:off x="9573768" y="3657600"/>
            <a:ext cx="182880" cy="182880"/>
          </a:xfrm>
          <a:prstGeom prst="ellipse">
            <a:avLst/>
          </a:prstGeom>
          <a:solidFill>
            <a:srgbClr val="FFFFFF"/>
          </a:solidFill>
          <a:ln w="15875">
            <a:solidFill>
              <a:srgbClr val="E3E5E8"/>
            </a:solidFill>
            <a:prstDash val="solid"/>
          </a:ln>
        </p:spPr>
      </p:sp>
      <p:sp>
        <p:nvSpPr>
          <p:cNvPr id="65" name="Shape 63"/>
          <p:cNvSpPr/>
          <p:nvPr/>
        </p:nvSpPr>
        <p:spPr>
          <a:xfrm>
            <a:off x="9875520" y="3657600"/>
            <a:ext cx="182880" cy="182880"/>
          </a:xfrm>
          <a:prstGeom prst="ellipse">
            <a:avLst/>
          </a:prstGeom>
          <a:solidFill>
            <a:srgbClr val="ED1C24"/>
          </a:solidFill>
          <a:ln/>
        </p:spPr>
      </p:sp>
      <p:sp>
        <p:nvSpPr>
          <p:cNvPr id="66" name="Shape 64"/>
          <p:cNvSpPr/>
          <p:nvPr/>
        </p:nvSpPr>
        <p:spPr>
          <a:xfrm>
            <a:off x="10177272" y="3657600"/>
            <a:ext cx="182880" cy="182880"/>
          </a:xfrm>
          <a:prstGeom prst="ellipse">
            <a:avLst/>
          </a:prstGeom>
          <a:solidFill>
            <a:srgbClr val="FFFFFF"/>
          </a:solidFill>
          <a:ln w="15875">
            <a:solidFill>
              <a:srgbClr val="E3E5E8"/>
            </a:solidFill>
            <a:prstDash val="solid"/>
          </a:ln>
        </p:spPr>
      </p:sp>
      <p:sp>
        <p:nvSpPr>
          <p:cNvPr id="67" name="Shape 65"/>
          <p:cNvSpPr/>
          <p:nvPr/>
        </p:nvSpPr>
        <p:spPr>
          <a:xfrm>
            <a:off x="10479024" y="3657600"/>
            <a:ext cx="182880" cy="182880"/>
          </a:xfrm>
          <a:prstGeom prst="ellipse">
            <a:avLst/>
          </a:prstGeom>
          <a:solidFill>
            <a:srgbClr val="FFFFFF"/>
          </a:solidFill>
          <a:ln w="15875">
            <a:solidFill>
              <a:srgbClr val="E3E5E8"/>
            </a:solidFill>
            <a:prstDash val="solid"/>
          </a:ln>
        </p:spPr>
      </p:sp>
      <p:sp>
        <p:nvSpPr>
          <p:cNvPr id="68" name="Shape 66"/>
          <p:cNvSpPr/>
          <p:nvPr/>
        </p:nvSpPr>
        <p:spPr>
          <a:xfrm>
            <a:off x="10780776" y="3657600"/>
            <a:ext cx="182880" cy="182880"/>
          </a:xfrm>
          <a:prstGeom prst="ellipse">
            <a:avLst/>
          </a:prstGeom>
          <a:solidFill>
            <a:srgbClr val="FFFFFF"/>
          </a:solidFill>
          <a:ln w="15875">
            <a:solidFill>
              <a:srgbClr val="E3E5E8"/>
            </a:solidFill>
            <a:prstDash val="solid"/>
          </a:ln>
        </p:spPr>
      </p:sp>
      <p:sp>
        <p:nvSpPr>
          <p:cNvPr id="69" name="Shape 67"/>
          <p:cNvSpPr/>
          <p:nvPr/>
        </p:nvSpPr>
        <p:spPr>
          <a:xfrm>
            <a:off x="11082528" y="3657600"/>
            <a:ext cx="182880" cy="182880"/>
          </a:xfrm>
          <a:prstGeom prst="ellipse">
            <a:avLst/>
          </a:prstGeom>
          <a:solidFill>
            <a:srgbClr val="FFFFFF"/>
          </a:solidFill>
          <a:ln w="15875">
            <a:solidFill>
              <a:srgbClr val="E3E5E8"/>
            </a:solidFill>
            <a:prstDash val="solid"/>
          </a:ln>
        </p:spPr>
      </p:sp>
      <p:sp>
        <p:nvSpPr>
          <p:cNvPr id="70" name="Text 68"/>
          <p:cNvSpPr/>
          <p:nvPr/>
        </p:nvSpPr>
        <p:spPr>
          <a:xfrm>
            <a:off x="8229600" y="4069080"/>
            <a:ext cx="3108960" cy="274320"/>
          </a:xfrm>
          <a:prstGeom prst="rect">
            <a:avLst/>
          </a:prstGeom>
          <a:noFill/>
          <a:ln/>
        </p:spPr>
        <p:txBody>
          <a:bodyPr wrap="square" lIns="0" tIns="0" rIns="0" bIns="0" rtlCol="0" anchor="ctr"/>
          <a:lstStyle/>
          <a:p>
            <a:pPr algn="ctr" indent="0" marL="0">
              <a:buNone/>
            </a:pPr>
            <a:r>
              <a:rPr lang="en-US" sz="1050" i="1" dirty="0">
                <a:solidFill>
                  <a:srgbClr val="63686E"/>
                </a:solidFill>
                <a:latin typeface="Arial" pitchFamily="34" charset="0"/>
                <a:ea typeface="Arial" pitchFamily="34" charset="-122"/>
                <a:cs typeface="Arial" pitchFamily="34" charset="-120"/>
              </a:rPr>
              <a:t>the token budget — barely touched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indent="0" marL="0">
              <a:buNone/>
            </a:pPr>
            <a:r>
              <a:rPr lang="en-US" sz="3400" b="1" dirty="0">
                <a:solidFill>
                  <a:srgbClr val="26282C"/>
                </a:solidFill>
                <a:latin typeface="Arial" pitchFamily="34" charset="0"/>
                <a:ea typeface="Arial" pitchFamily="34" charset="-122"/>
                <a:cs typeface="Arial" pitchFamily="34" charset="-120"/>
              </a:rPr>
              <a:t>The problem</a:t>
            </a:r>
            <a:endParaRPr lang="en-US" sz="3400" dirty="0"/>
          </a:p>
        </p:txBody>
      </p:sp>
      <p:sp>
        <p:nvSpPr>
          <p:cNvPr id="3" name="Shape 1"/>
          <p:cNvSpPr/>
          <p:nvPr/>
        </p:nvSpPr>
        <p:spPr>
          <a:xfrm>
            <a:off x="822960" y="1572768"/>
            <a:ext cx="530352" cy="530352"/>
          </a:xfrm>
          <a:prstGeom prst="ellipse">
            <a:avLst/>
          </a:prstGeom>
          <a:solidFill>
            <a:srgbClr val="FDEBEC"/>
          </a:solidFill>
          <a:ln/>
        </p:spPr>
      </p:sp>
      <p:pic>
        <p:nvPicPr>
          <p:cNvPr id="4" name="Image 0" descr="preencoded.png">    </p:cNvPr>
          <p:cNvPicPr>
            <a:picLocks noChangeAspect="1"/>
          </p:cNvPicPr>
          <p:nvPr/>
        </p:nvPicPr>
        <p:blipFill>
          <a:blip r:embed="rId1"/>
          <a:stretch>
            <a:fillRect/>
          </a:stretch>
        </p:blipFill>
        <p:spPr>
          <a:xfrm>
            <a:off x="950244" y="1700052"/>
            <a:ext cx="275783" cy="275783"/>
          </a:xfrm>
          <a:prstGeom prst="rect">
            <a:avLst/>
          </a:prstGeom>
        </p:spPr>
      </p:pic>
      <p:sp>
        <p:nvSpPr>
          <p:cNvPr id="5" name="Text 2"/>
          <p:cNvSpPr/>
          <p:nvPr/>
        </p:nvSpPr>
        <p:spPr>
          <a:xfrm>
            <a:off x="1600200" y="1554480"/>
            <a:ext cx="521208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AI spend control — without a quality tax</a:t>
            </a:r>
            <a:endParaRPr lang="en-US" sz="1650" dirty="0"/>
          </a:p>
        </p:txBody>
      </p:sp>
      <p:sp>
        <p:nvSpPr>
          <p:cNvPr id="6" name="Text 3"/>
          <p:cNvSpPr/>
          <p:nvPr/>
        </p:nvSpPr>
        <p:spPr>
          <a:xfrm>
            <a:off x="1600200" y="1883664"/>
            <a:ext cx="521208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Enterprises want to cut LLM inference cost, but every saved token is worthless if accuracy drops below the bar.</a:t>
            </a:r>
            <a:endParaRPr lang="en-US" sz="1300" dirty="0"/>
          </a:p>
        </p:txBody>
      </p:sp>
      <p:sp>
        <p:nvSpPr>
          <p:cNvPr id="7" name="Shape 4"/>
          <p:cNvSpPr/>
          <p:nvPr/>
        </p:nvSpPr>
        <p:spPr>
          <a:xfrm>
            <a:off x="822960" y="2944368"/>
            <a:ext cx="530352" cy="530352"/>
          </a:xfrm>
          <a:prstGeom prst="ellipse">
            <a:avLst/>
          </a:prstGeom>
          <a:solidFill>
            <a:srgbClr val="FDEBEC"/>
          </a:solidFill>
          <a:ln/>
        </p:spPr>
      </p:sp>
      <p:pic>
        <p:nvPicPr>
          <p:cNvPr id="8" name="Image 1" descr="preencoded.png">    </p:cNvPr>
          <p:cNvPicPr>
            <a:picLocks noChangeAspect="1"/>
          </p:cNvPicPr>
          <p:nvPr/>
        </p:nvPicPr>
        <p:blipFill>
          <a:blip r:embed="rId2"/>
          <a:stretch>
            <a:fillRect/>
          </a:stretch>
        </p:blipFill>
        <p:spPr>
          <a:xfrm>
            <a:off x="950244" y="3071652"/>
            <a:ext cx="275783" cy="275783"/>
          </a:xfrm>
          <a:prstGeom prst="rect">
            <a:avLst/>
          </a:prstGeom>
        </p:spPr>
      </p:pic>
      <p:sp>
        <p:nvSpPr>
          <p:cNvPr id="9" name="Text 5"/>
          <p:cNvSpPr/>
          <p:nvPr/>
        </p:nvSpPr>
        <p:spPr>
          <a:xfrm>
            <a:off x="1600200" y="2926080"/>
            <a:ext cx="521208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One agent, eight task types</a:t>
            </a:r>
            <a:endParaRPr lang="en-US" sz="1650" dirty="0"/>
          </a:p>
        </p:txBody>
      </p:sp>
      <p:sp>
        <p:nvSpPr>
          <p:cNvPr id="10" name="Text 6"/>
          <p:cNvSpPr/>
          <p:nvPr/>
        </p:nvSpPr>
        <p:spPr>
          <a:xfrm>
            <a:off x="1600200" y="3255264"/>
            <a:ext cx="521208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Track 1: answer 19 varied tasks — math, code generation &amp; debugging, logic, NER, sentiment, summarisation, factual Q&amp;A — above an accuracy gate.</a:t>
            </a:r>
            <a:endParaRPr lang="en-US" sz="1300" dirty="0"/>
          </a:p>
        </p:txBody>
      </p:sp>
      <p:sp>
        <p:nvSpPr>
          <p:cNvPr id="11" name="Shape 7"/>
          <p:cNvSpPr/>
          <p:nvPr/>
        </p:nvSpPr>
        <p:spPr>
          <a:xfrm>
            <a:off x="822960" y="4453128"/>
            <a:ext cx="530352" cy="530352"/>
          </a:xfrm>
          <a:prstGeom prst="ellipse">
            <a:avLst/>
          </a:prstGeom>
          <a:solidFill>
            <a:srgbClr val="FDEBEC"/>
          </a:solidFill>
          <a:ln/>
        </p:spPr>
      </p:sp>
      <p:pic>
        <p:nvPicPr>
          <p:cNvPr id="12" name="Image 2" descr="preencoded.png">    </p:cNvPr>
          <p:cNvPicPr>
            <a:picLocks noChangeAspect="1"/>
          </p:cNvPicPr>
          <p:nvPr/>
        </p:nvPicPr>
        <p:blipFill>
          <a:blip r:embed="rId3"/>
          <a:stretch>
            <a:fillRect/>
          </a:stretch>
        </p:blipFill>
        <p:spPr>
          <a:xfrm>
            <a:off x="950244" y="4580412"/>
            <a:ext cx="275783" cy="275783"/>
          </a:xfrm>
          <a:prstGeom prst="rect">
            <a:avLst/>
          </a:prstGeom>
        </p:spPr>
      </p:pic>
      <p:sp>
        <p:nvSpPr>
          <p:cNvPr id="13" name="Text 8"/>
          <p:cNvSpPr/>
          <p:nvPr/>
        </p:nvSpPr>
        <p:spPr>
          <a:xfrm>
            <a:off x="1600200" y="4434840"/>
            <a:ext cx="521208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Fireworks tokens are the score</a:t>
            </a:r>
            <a:endParaRPr lang="en-US" sz="1650" dirty="0"/>
          </a:p>
        </p:txBody>
      </p:sp>
      <p:sp>
        <p:nvSpPr>
          <p:cNvPr id="14" name="Text 9"/>
          <p:cNvSpPr/>
          <p:nvPr/>
        </p:nvSpPr>
        <p:spPr>
          <a:xfrm>
            <a:off x="1600200" y="4764024"/>
            <a:ext cx="521208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Every external token counts against you. The cheapest correct answer wins.</a:t>
            </a:r>
            <a:endParaRPr lang="en-US" sz="1300" dirty="0"/>
          </a:p>
        </p:txBody>
      </p:sp>
      <p:sp>
        <p:nvSpPr>
          <p:cNvPr id="15" name="Shape 10"/>
          <p:cNvSpPr/>
          <p:nvPr/>
        </p:nvSpPr>
        <p:spPr>
          <a:xfrm>
            <a:off x="7315200" y="1417320"/>
            <a:ext cx="4069080" cy="4434840"/>
          </a:xfrm>
          <a:prstGeom prst="roundRect">
            <a:avLst>
              <a:gd name="adj" fmla="val 2697"/>
            </a:avLst>
          </a:prstGeom>
          <a:solidFill>
            <a:srgbClr val="1D1F23"/>
          </a:solidFill>
          <a:ln/>
          <a:effectLst>
            <a:outerShdw sx="100000" sy="100000" kx="0" ky="0" algn="bl" rotWithShape="0" blurRad="88900" dist="25400" dir="5400000">
              <a:srgbClr val="9AA0A6">
                <a:alpha val="30000"/>
              </a:srgbClr>
            </a:outerShdw>
          </a:effectLst>
        </p:spPr>
      </p:sp>
      <p:sp>
        <p:nvSpPr>
          <p:cNvPr id="16" name="Text 11"/>
          <p:cNvSpPr/>
          <p:nvPr/>
        </p:nvSpPr>
        <p:spPr>
          <a:xfrm>
            <a:off x="7635240" y="1691640"/>
            <a:ext cx="3429000" cy="274320"/>
          </a:xfrm>
          <a:prstGeom prst="rect">
            <a:avLst/>
          </a:prstGeom>
          <a:noFill/>
          <a:ln/>
        </p:spPr>
        <p:txBody>
          <a:bodyPr wrap="square" lIns="0" tIns="0" rIns="0" bIns="0" rtlCol="0" anchor="ctr"/>
          <a:lstStyle/>
          <a:p>
            <a:pPr indent="0" marL="0">
              <a:buNone/>
            </a:pPr>
            <a:r>
              <a:rPr lang="en-US" sz="1200" b="1" spc="300" kern="0" dirty="0">
                <a:solidFill>
                  <a:srgbClr val="B9BEC4"/>
                </a:solidFill>
                <a:latin typeface="Arial" pitchFamily="34" charset="0"/>
                <a:ea typeface="Arial" pitchFamily="34" charset="-122"/>
                <a:cs typeface="Arial" pitchFamily="34" charset="-120"/>
              </a:rPr>
              <a:t>THE GRADING BOX</a:t>
            </a:r>
            <a:endParaRPr lang="en-US" sz="1200" dirty="0"/>
          </a:p>
        </p:txBody>
      </p:sp>
      <p:sp>
        <p:nvSpPr>
          <p:cNvPr id="17" name="Text 12"/>
          <p:cNvSpPr/>
          <p:nvPr/>
        </p:nvSpPr>
        <p:spPr>
          <a:xfrm>
            <a:off x="7635240" y="2194560"/>
            <a:ext cx="178308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2</a:t>
            </a:r>
            <a:endParaRPr lang="en-US" sz="3400" dirty="0"/>
          </a:p>
        </p:txBody>
      </p:sp>
      <p:sp>
        <p:nvSpPr>
          <p:cNvPr id="18" name="Text 13"/>
          <p:cNvSpPr/>
          <p:nvPr/>
        </p:nvSpPr>
        <p:spPr>
          <a:xfrm>
            <a:off x="7635240" y="2816352"/>
            <a:ext cx="1783080" cy="274320"/>
          </a:xfrm>
          <a:prstGeom prst="rect">
            <a:avLst/>
          </a:prstGeom>
          <a:noFill/>
          <a:ln/>
        </p:spPr>
        <p:txBody>
          <a:bodyPr wrap="square" lIns="0" tIns="0" rIns="0" bIns="0" rtlCol="0" anchor="ctr"/>
          <a:lstStyle/>
          <a:p>
            <a:pPr indent="0" marL="0">
              <a:buNone/>
            </a:pPr>
            <a:r>
              <a:rPr lang="en-US" sz="1200" dirty="0">
                <a:solidFill>
                  <a:srgbClr val="B9BEC4"/>
                </a:solidFill>
                <a:latin typeface="Arial" pitchFamily="34" charset="0"/>
                <a:ea typeface="Arial" pitchFamily="34" charset="-122"/>
                <a:cs typeface="Arial" pitchFamily="34" charset="-120"/>
              </a:rPr>
              <a:t>vCPUs</a:t>
            </a:r>
            <a:endParaRPr lang="en-US" sz="1200" dirty="0"/>
          </a:p>
        </p:txBody>
      </p:sp>
      <p:sp>
        <p:nvSpPr>
          <p:cNvPr id="19" name="Text 14"/>
          <p:cNvSpPr/>
          <p:nvPr/>
        </p:nvSpPr>
        <p:spPr>
          <a:xfrm>
            <a:off x="9464040" y="2194560"/>
            <a:ext cx="178308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4 GB</a:t>
            </a:r>
            <a:endParaRPr lang="en-US" sz="3400" dirty="0"/>
          </a:p>
        </p:txBody>
      </p:sp>
      <p:sp>
        <p:nvSpPr>
          <p:cNvPr id="20" name="Text 15"/>
          <p:cNvSpPr/>
          <p:nvPr/>
        </p:nvSpPr>
        <p:spPr>
          <a:xfrm>
            <a:off x="9464040" y="2816352"/>
            <a:ext cx="1783080" cy="274320"/>
          </a:xfrm>
          <a:prstGeom prst="rect">
            <a:avLst/>
          </a:prstGeom>
          <a:noFill/>
          <a:ln/>
        </p:spPr>
        <p:txBody>
          <a:bodyPr wrap="square" lIns="0" tIns="0" rIns="0" bIns="0" rtlCol="0" anchor="ctr"/>
          <a:lstStyle/>
          <a:p>
            <a:pPr indent="0" marL="0">
              <a:buNone/>
            </a:pPr>
            <a:r>
              <a:rPr lang="en-US" sz="1200" dirty="0">
                <a:solidFill>
                  <a:srgbClr val="B9BEC4"/>
                </a:solidFill>
                <a:latin typeface="Arial" pitchFamily="34" charset="0"/>
                <a:ea typeface="Arial" pitchFamily="34" charset="-122"/>
                <a:cs typeface="Arial" pitchFamily="34" charset="-120"/>
              </a:rPr>
              <a:t>RAM</a:t>
            </a:r>
            <a:endParaRPr lang="en-US" sz="1200" dirty="0"/>
          </a:p>
        </p:txBody>
      </p:sp>
      <p:sp>
        <p:nvSpPr>
          <p:cNvPr id="21" name="Text 16"/>
          <p:cNvSpPr/>
          <p:nvPr/>
        </p:nvSpPr>
        <p:spPr>
          <a:xfrm>
            <a:off x="7635240" y="3474720"/>
            <a:ext cx="178308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10 min</a:t>
            </a:r>
            <a:endParaRPr lang="en-US" sz="3400" dirty="0"/>
          </a:p>
        </p:txBody>
      </p:sp>
      <p:sp>
        <p:nvSpPr>
          <p:cNvPr id="22" name="Text 17"/>
          <p:cNvSpPr/>
          <p:nvPr/>
        </p:nvSpPr>
        <p:spPr>
          <a:xfrm>
            <a:off x="7635240" y="4096512"/>
            <a:ext cx="1783080" cy="274320"/>
          </a:xfrm>
          <a:prstGeom prst="rect">
            <a:avLst/>
          </a:prstGeom>
          <a:noFill/>
          <a:ln/>
        </p:spPr>
        <p:txBody>
          <a:bodyPr wrap="square" lIns="0" tIns="0" rIns="0" bIns="0" rtlCol="0" anchor="ctr"/>
          <a:lstStyle/>
          <a:p>
            <a:pPr indent="0" marL="0">
              <a:buNone/>
            </a:pPr>
            <a:r>
              <a:rPr lang="en-US" sz="1200" dirty="0">
                <a:solidFill>
                  <a:srgbClr val="B9BEC4"/>
                </a:solidFill>
                <a:latin typeface="Arial" pitchFamily="34" charset="0"/>
                <a:ea typeface="Arial" pitchFamily="34" charset="-122"/>
                <a:cs typeface="Arial" pitchFamily="34" charset="-120"/>
              </a:rPr>
              <a:t>wall clock</a:t>
            </a:r>
            <a:endParaRPr lang="en-US" sz="1200" dirty="0"/>
          </a:p>
        </p:txBody>
      </p:sp>
      <p:sp>
        <p:nvSpPr>
          <p:cNvPr id="23" name="Text 18"/>
          <p:cNvSpPr/>
          <p:nvPr/>
        </p:nvSpPr>
        <p:spPr>
          <a:xfrm>
            <a:off x="9464040" y="3474720"/>
            <a:ext cx="178308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0</a:t>
            </a:r>
            <a:endParaRPr lang="en-US" sz="3400" dirty="0"/>
          </a:p>
        </p:txBody>
      </p:sp>
      <p:sp>
        <p:nvSpPr>
          <p:cNvPr id="24" name="Text 19"/>
          <p:cNvSpPr/>
          <p:nvPr/>
        </p:nvSpPr>
        <p:spPr>
          <a:xfrm>
            <a:off x="9464040" y="4096512"/>
            <a:ext cx="1783080" cy="274320"/>
          </a:xfrm>
          <a:prstGeom prst="rect">
            <a:avLst/>
          </a:prstGeom>
          <a:noFill/>
          <a:ln/>
        </p:spPr>
        <p:txBody>
          <a:bodyPr wrap="square" lIns="0" tIns="0" rIns="0" bIns="0" rtlCol="0" anchor="ctr"/>
          <a:lstStyle/>
          <a:p>
            <a:pPr indent="0" marL="0">
              <a:buNone/>
            </a:pPr>
            <a:r>
              <a:rPr lang="en-US" sz="1200" dirty="0">
                <a:solidFill>
                  <a:srgbClr val="B9BEC4"/>
                </a:solidFill>
                <a:latin typeface="Arial" pitchFamily="34" charset="0"/>
                <a:ea typeface="Arial" pitchFamily="34" charset="-122"/>
                <a:cs typeface="Arial" pitchFamily="34" charset="-120"/>
              </a:rPr>
              <a:t>GPUs</a:t>
            </a:r>
            <a:endParaRPr lang="en-US" sz="1200" dirty="0"/>
          </a:p>
        </p:txBody>
      </p:sp>
      <p:sp>
        <p:nvSpPr>
          <p:cNvPr id="25" name="Shape 20"/>
          <p:cNvSpPr/>
          <p:nvPr/>
        </p:nvSpPr>
        <p:spPr>
          <a:xfrm>
            <a:off x="7635240" y="4754880"/>
            <a:ext cx="3429000" cy="0"/>
          </a:xfrm>
          <a:prstGeom prst="line">
            <a:avLst/>
          </a:prstGeom>
          <a:noFill/>
          <a:ln w="12700">
            <a:solidFill>
              <a:srgbClr val="3A3D42"/>
            </a:solidFill>
            <a:prstDash val="solid"/>
          </a:ln>
        </p:spPr>
      </p:sp>
      <p:sp>
        <p:nvSpPr>
          <p:cNvPr id="26" name="Text 21"/>
          <p:cNvSpPr/>
          <p:nvPr/>
        </p:nvSpPr>
        <p:spPr>
          <a:xfrm>
            <a:off x="7635240" y="4937760"/>
            <a:ext cx="3429000" cy="685800"/>
          </a:xfrm>
          <a:prstGeom prst="rect">
            <a:avLst/>
          </a:prstGeom>
          <a:noFill/>
          <a:ln/>
        </p:spPr>
        <p:txBody>
          <a:bodyPr wrap="square" lIns="0" tIns="0" rIns="0" bIns="0" rtlCol="0" anchor="ctr"/>
          <a:lstStyle/>
          <a:p>
            <a:pPr indent="0" marL="0">
              <a:lnSpc>
                <a:spcPct val="115000"/>
              </a:lnSpc>
              <a:buNone/>
            </a:pPr>
            <a:r>
              <a:rPr lang="en-US" sz="1150" dirty="0">
                <a:solidFill>
                  <a:srgbClr val="B9BEC4"/>
                </a:solidFill>
                <a:latin typeface="Arial" pitchFamily="34" charset="0"/>
                <a:ea typeface="Arial" pitchFamily="34" charset="-122"/>
                <a:cs typeface="Arial" pitchFamily="34" charset="-120"/>
              </a:rPr>
              <a:t>linux/amd64 container · offline except the Fireworks API · exit 0 in time, or score nothing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11480"/>
            <a:ext cx="10515600" cy="1143000"/>
          </a:xfrm>
          <a:prstGeom prst="rect">
            <a:avLst/>
          </a:prstGeom>
          <a:noFill/>
          <a:ln/>
        </p:spPr>
        <p:txBody>
          <a:bodyPr wrap="square" lIns="0" tIns="0" rIns="0" bIns="0" rtlCol="0" anchor="ctr"/>
          <a:lstStyle/>
          <a:p>
            <a:pPr indent="0" marL="0">
              <a:lnSpc>
                <a:spcPct val="105000"/>
              </a:lnSpc>
              <a:buNone/>
            </a:pPr>
            <a:r>
              <a:rPr lang="en-US" sz="2900" b="1" dirty="0">
                <a:solidFill>
                  <a:srgbClr val="26282C"/>
                </a:solidFill>
                <a:latin typeface="Arial" pitchFamily="34" charset="0"/>
                <a:ea typeface="Arial" pitchFamily="34" charset="-122"/>
                <a:cs typeface="Arial" pitchFamily="34" charset="-120"/>
              </a:rPr>
              <a:t>Don’t route to the cheapest cloud model.
</a:t>
            </a:r>
            <a:pPr indent="0" marL="0">
              <a:lnSpc>
                <a:spcPct val="105000"/>
              </a:lnSpc>
              <a:buNone/>
            </a:pPr>
            <a:r>
              <a:rPr lang="en-US" sz="2900" b="1" dirty="0">
                <a:solidFill>
                  <a:srgbClr val="ED1C24"/>
                </a:solidFill>
                <a:latin typeface="Arial" pitchFamily="34" charset="0"/>
                <a:ea typeface="Arial" pitchFamily="34" charset="-122"/>
                <a:cs typeface="Arial" pitchFamily="34" charset="-120"/>
              </a:rPr>
              <a:t>Make cloud calls unnecessary.</a:t>
            </a:r>
            <a:endParaRPr lang="en-US" sz="2900" dirty="0"/>
          </a:p>
        </p:txBody>
      </p:sp>
      <p:sp>
        <p:nvSpPr>
          <p:cNvPr id="3" name="Shape 1"/>
          <p:cNvSpPr/>
          <p:nvPr/>
        </p:nvSpPr>
        <p:spPr>
          <a:xfrm>
            <a:off x="950976" y="2980944"/>
            <a:ext cx="1920240" cy="914400"/>
          </a:xfrm>
          <a:prstGeom prst="roundRect">
            <a:avLst>
              <a:gd name="adj" fmla="val 9000"/>
            </a:avLst>
          </a:prstGeom>
          <a:solidFill>
            <a:srgbClr val="FFFFFF"/>
          </a:solidFill>
          <a:ln w="15875">
            <a:solidFill>
              <a:srgbClr val="E3E5E8"/>
            </a:solidFill>
            <a:prstDash val="solid"/>
          </a:ln>
        </p:spPr>
      </p:sp>
      <p:sp>
        <p:nvSpPr>
          <p:cNvPr id="4" name="Shape 2"/>
          <p:cNvSpPr/>
          <p:nvPr/>
        </p:nvSpPr>
        <p:spPr>
          <a:xfrm>
            <a:off x="886968" y="3044952"/>
            <a:ext cx="1920240" cy="914400"/>
          </a:xfrm>
          <a:prstGeom prst="roundRect">
            <a:avLst>
              <a:gd name="adj" fmla="val 9000"/>
            </a:avLst>
          </a:prstGeom>
          <a:solidFill>
            <a:srgbClr val="FFFFFF"/>
          </a:solidFill>
          <a:ln w="15875">
            <a:solidFill>
              <a:srgbClr val="E3E5E8"/>
            </a:solidFill>
            <a:prstDash val="solid"/>
          </a:ln>
        </p:spPr>
      </p:sp>
      <p:sp>
        <p:nvSpPr>
          <p:cNvPr id="5" name="Shape 3"/>
          <p:cNvSpPr/>
          <p:nvPr/>
        </p:nvSpPr>
        <p:spPr>
          <a:xfrm>
            <a:off x="822960" y="3108960"/>
            <a:ext cx="1920240" cy="914400"/>
          </a:xfrm>
          <a:prstGeom prst="roundRect">
            <a:avLst>
              <a:gd name="adj" fmla="val 9000"/>
            </a:avLst>
          </a:prstGeom>
          <a:solidFill>
            <a:srgbClr val="F6F7F8"/>
          </a:solidFill>
          <a:ln w="15875">
            <a:solidFill>
              <a:srgbClr val="E3E5E8"/>
            </a:solidFill>
            <a:prstDash val="solid"/>
          </a:ln>
        </p:spPr>
      </p:sp>
      <p:sp>
        <p:nvSpPr>
          <p:cNvPr id="6" name="Text 4"/>
          <p:cNvSpPr/>
          <p:nvPr/>
        </p:nvSpPr>
        <p:spPr>
          <a:xfrm>
            <a:off x="822960" y="3218688"/>
            <a:ext cx="1920240" cy="320040"/>
          </a:xfrm>
          <a:prstGeom prst="rect">
            <a:avLst/>
          </a:prstGeom>
          <a:noFill/>
          <a:ln/>
        </p:spPr>
        <p:txBody>
          <a:bodyPr wrap="square" lIns="0" tIns="0" rIns="0" bIns="0" rtlCol="0" anchor="ctr"/>
          <a:lstStyle/>
          <a:p>
            <a:pPr algn="ctr" indent="0" marL="0">
              <a:buNone/>
            </a:pPr>
            <a:r>
              <a:rPr lang="en-US" sz="1300" b="1" dirty="0">
                <a:solidFill>
                  <a:srgbClr val="26282C"/>
                </a:solidFill>
                <a:latin typeface="Courier New" pitchFamily="34" charset="0"/>
                <a:ea typeface="Courier New" pitchFamily="34" charset="-122"/>
                <a:cs typeface="Courier New" pitchFamily="34" charset="-120"/>
              </a:rPr>
              <a:t>tasks.json</a:t>
            </a:r>
            <a:endParaRPr lang="en-US" sz="1300" dirty="0"/>
          </a:p>
        </p:txBody>
      </p:sp>
      <p:sp>
        <p:nvSpPr>
          <p:cNvPr id="7" name="Text 5"/>
          <p:cNvSpPr/>
          <p:nvPr/>
        </p:nvSpPr>
        <p:spPr>
          <a:xfrm>
            <a:off x="822960" y="3547872"/>
            <a:ext cx="1920240" cy="274320"/>
          </a:xfrm>
          <a:prstGeom prst="rect">
            <a:avLst/>
          </a:prstGeom>
          <a:noFill/>
          <a:ln/>
        </p:spPr>
        <p:txBody>
          <a:bodyPr wrap="square" lIns="0" tIns="0" rIns="0" bIns="0" rtlCol="0" anchor="ctr"/>
          <a:lstStyle/>
          <a:p>
            <a:pPr algn="ctr" indent="0" marL="0">
              <a:buNone/>
            </a:pPr>
            <a:r>
              <a:rPr lang="en-US" sz="1050" dirty="0">
                <a:solidFill>
                  <a:srgbClr val="63686E"/>
                </a:solidFill>
                <a:latin typeface="Arial" pitchFamily="34" charset="0"/>
                <a:ea typeface="Arial" pitchFamily="34" charset="-122"/>
                <a:cs typeface="Arial" pitchFamily="34" charset="-120"/>
              </a:rPr>
              <a:t>19 mixed tasks</a:t>
            </a:r>
            <a:endParaRPr lang="en-US" sz="1050" dirty="0"/>
          </a:p>
        </p:txBody>
      </p:sp>
      <p:sp>
        <p:nvSpPr>
          <p:cNvPr id="8" name="Shape 6"/>
          <p:cNvSpPr/>
          <p:nvPr/>
        </p:nvSpPr>
        <p:spPr>
          <a:xfrm>
            <a:off x="2834640" y="3566160"/>
            <a:ext cx="777240" cy="0"/>
          </a:xfrm>
          <a:prstGeom prst="line">
            <a:avLst/>
          </a:prstGeom>
          <a:noFill/>
          <a:ln w="28575">
            <a:solidFill>
              <a:srgbClr val="26282C"/>
            </a:solidFill>
            <a:prstDash val="solid"/>
            <a:tailEnd type="triangle"/>
          </a:ln>
        </p:spPr>
      </p:sp>
      <p:sp>
        <p:nvSpPr>
          <p:cNvPr id="9" name="Shape 7"/>
          <p:cNvSpPr/>
          <p:nvPr/>
        </p:nvSpPr>
        <p:spPr>
          <a:xfrm>
            <a:off x="3703320" y="2148840"/>
            <a:ext cx="4709160" cy="2834640"/>
          </a:xfrm>
          <a:prstGeom prst="roundRect">
            <a:avLst>
              <a:gd name="adj" fmla="val 3871"/>
            </a:avLst>
          </a:prstGeom>
          <a:solidFill>
            <a:srgbClr val="FFFFFF"/>
          </a:solidFill>
          <a:ln w="25400">
            <a:solidFill>
              <a:srgbClr val="26282C"/>
            </a:solidFill>
            <a:prstDash val="solid"/>
          </a:ln>
          <a:effectLst>
            <a:outerShdw sx="100000" sy="100000" kx="0" ky="0" algn="bl" rotWithShape="0" blurRad="88900" dist="25400" dir="5400000">
              <a:srgbClr val="9AA0A6">
                <a:alpha val="30000"/>
              </a:srgbClr>
            </a:outerShdw>
          </a:effectLst>
        </p:spPr>
      </p:sp>
      <p:sp>
        <p:nvSpPr>
          <p:cNvPr id="10" name="Text 8"/>
          <p:cNvSpPr/>
          <p:nvPr/>
        </p:nvSpPr>
        <p:spPr>
          <a:xfrm>
            <a:off x="3703320" y="2331720"/>
            <a:ext cx="4709160" cy="256032"/>
          </a:xfrm>
          <a:prstGeom prst="rect">
            <a:avLst/>
          </a:prstGeom>
          <a:noFill/>
          <a:ln/>
        </p:spPr>
        <p:txBody>
          <a:bodyPr wrap="square" lIns="0" tIns="0" rIns="0" bIns="0" rtlCol="0" anchor="ctr"/>
          <a:lstStyle/>
          <a:p>
            <a:pPr algn="ctr" indent="0" marL="0">
              <a:buNone/>
            </a:pPr>
            <a:r>
              <a:rPr lang="en-US" sz="1200" b="1" spc="300" kern="0" dirty="0">
                <a:solidFill>
                  <a:srgbClr val="26282C"/>
                </a:solidFill>
                <a:latin typeface="Arial" pitchFamily="34" charset="0"/>
                <a:ea typeface="Arial" pitchFamily="34" charset="-122"/>
                <a:cs typeface="Arial" pitchFamily="34" charset="-120"/>
              </a:rPr>
              <a:t>GRADING CONTAINER</a:t>
            </a:r>
            <a:endParaRPr lang="en-US" sz="1200" dirty="0"/>
          </a:p>
        </p:txBody>
      </p:sp>
      <p:sp>
        <p:nvSpPr>
          <p:cNvPr id="11" name="Text 9"/>
          <p:cNvSpPr/>
          <p:nvPr/>
        </p:nvSpPr>
        <p:spPr>
          <a:xfrm>
            <a:off x="3703320" y="2606040"/>
            <a:ext cx="4709160" cy="237744"/>
          </a:xfrm>
          <a:prstGeom prst="rect">
            <a:avLst/>
          </a:prstGeom>
          <a:noFill/>
          <a:ln/>
        </p:spPr>
        <p:txBody>
          <a:bodyPr wrap="square" lIns="0" tIns="0" rIns="0" bIns="0" rtlCol="0" anchor="ctr"/>
          <a:lstStyle/>
          <a:p>
            <a:pPr algn="ctr" indent="0" marL="0">
              <a:buNone/>
            </a:pPr>
            <a:r>
              <a:rPr lang="en-US" sz="1050" dirty="0">
                <a:solidFill>
                  <a:srgbClr val="63686E"/>
                </a:solidFill>
                <a:latin typeface="Arial" pitchFamily="34" charset="0"/>
                <a:ea typeface="Arial" pitchFamily="34" charset="-122"/>
                <a:cs typeface="Arial" pitchFamily="34" charset="-120"/>
              </a:rPr>
              <a:t>llama.cpp · CPU-only · no pip dependencies</a:t>
            </a:r>
            <a:endParaRPr lang="en-US" sz="1050" dirty="0"/>
          </a:p>
        </p:txBody>
      </p:sp>
      <p:sp>
        <p:nvSpPr>
          <p:cNvPr id="12" name="Shape 10"/>
          <p:cNvSpPr/>
          <p:nvPr/>
        </p:nvSpPr>
        <p:spPr>
          <a:xfrm>
            <a:off x="4206240" y="2990088"/>
            <a:ext cx="3703320" cy="512064"/>
          </a:xfrm>
          <a:prstGeom prst="roundRect">
            <a:avLst>
              <a:gd name="adj" fmla="val 14286"/>
            </a:avLst>
          </a:prstGeom>
          <a:solidFill>
            <a:srgbClr val="1D1F23"/>
          </a:solidFill>
          <a:ln/>
        </p:spPr>
      </p:sp>
      <p:sp>
        <p:nvSpPr>
          <p:cNvPr id="13" name="Text 11"/>
          <p:cNvSpPr/>
          <p:nvPr/>
        </p:nvSpPr>
        <p:spPr>
          <a:xfrm>
            <a:off x="4206240" y="2990088"/>
            <a:ext cx="3703320" cy="512064"/>
          </a:xfrm>
          <a:prstGeom prst="rect">
            <a:avLst/>
          </a:prstGeom>
          <a:noFill/>
          <a:ln/>
        </p:spPr>
        <p:txBody>
          <a:bodyPr wrap="square" lIns="0" tIns="0" rIns="0" bIns="0" rtlCol="0" anchor="ctr"/>
          <a:lstStyle/>
          <a:p>
            <a:pPr algn="ctr" indent="0" marL="0">
              <a:buNone/>
            </a:pPr>
            <a:r>
              <a:rPr lang="en-US" sz="1200" dirty="0">
                <a:solidFill>
                  <a:srgbClr val="F2F3F4"/>
                </a:solidFill>
                <a:latin typeface="Courier New" pitchFamily="34" charset="0"/>
                <a:ea typeface="Courier New" pitchFamily="34" charset="-122"/>
                <a:cs typeface="Courier New" pitchFamily="34" charset="-120"/>
              </a:rPr>
              <a:t>Qwen3-1.7B · Q4_K_M</a:t>
            </a:r>
            <a:endParaRPr lang="en-US" sz="1200" dirty="0"/>
          </a:p>
        </p:txBody>
      </p:sp>
      <p:sp>
        <p:nvSpPr>
          <p:cNvPr id="14" name="Shape 12"/>
          <p:cNvSpPr/>
          <p:nvPr/>
        </p:nvSpPr>
        <p:spPr>
          <a:xfrm>
            <a:off x="4206240" y="3611880"/>
            <a:ext cx="3703320" cy="512064"/>
          </a:xfrm>
          <a:prstGeom prst="roundRect">
            <a:avLst>
              <a:gd name="adj" fmla="val 14286"/>
            </a:avLst>
          </a:prstGeom>
          <a:solidFill>
            <a:srgbClr val="1D1F23"/>
          </a:solidFill>
          <a:ln/>
        </p:spPr>
      </p:sp>
      <p:sp>
        <p:nvSpPr>
          <p:cNvPr id="15" name="Text 13"/>
          <p:cNvSpPr/>
          <p:nvPr/>
        </p:nvSpPr>
        <p:spPr>
          <a:xfrm>
            <a:off x="4206240" y="3611880"/>
            <a:ext cx="3703320" cy="512064"/>
          </a:xfrm>
          <a:prstGeom prst="rect">
            <a:avLst/>
          </a:prstGeom>
          <a:noFill/>
          <a:ln/>
        </p:spPr>
        <p:txBody>
          <a:bodyPr wrap="square" lIns="0" tIns="0" rIns="0" bIns="0" rtlCol="0" anchor="ctr"/>
          <a:lstStyle/>
          <a:p>
            <a:pPr algn="ctr" indent="0" marL="0">
              <a:buNone/>
            </a:pPr>
            <a:r>
              <a:rPr lang="en-US" sz="1200" dirty="0">
                <a:solidFill>
                  <a:srgbClr val="F2F3F4"/>
                </a:solidFill>
                <a:latin typeface="Courier New" pitchFamily="34" charset="0"/>
                <a:ea typeface="Courier New" pitchFamily="34" charset="-122"/>
                <a:cs typeface="Courier New" pitchFamily="34" charset="-120"/>
              </a:rPr>
              <a:t>Qwen2.5-Coder-1.5B · Q4_K_M</a:t>
            </a:r>
            <a:endParaRPr lang="en-US" sz="1200" dirty="0"/>
          </a:p>
        </p:txBody>
      </p:sp>
      <p:sp>
        <p:nvSpPr>
          <p:cNvPr id="16" name="Text 14"/>
          <p:cNvSpPr/>
          <p:nvPr/>
        </p:nvSpPr>
        <p:spPr>
          <a:xfrm>
            <a:off x="3703320" y="4270248"/>
            <a:ext cx="4709160" cy="237744"/>
          </a:xfrm>
          <a:prstGeom prst="rect">
            <a:avLst/>
          </a:prstGeom>
          <a:noFill/>
          <a:ln/>
        </p:spPr>
        <p:txBody>
          <a:bodyPr wrap="square" lIns="0" tIns="0" rIns="0" bIns="0" rtlCol="0" anchor="ctr"/>
          <a:lstStyle/>
          <a:p>
            <a:pPr algn="ctr" indent="0" marL="0">
              <a:buNone/>
            </a:pPr>
            <a:r>
              <a:rPr lang="en-US" sz="1050" i="1" dirty="0">
                <a:solidFill>
                  <a:srgbClr val="63686E"/>
                </a:solidFill>
                <a:latin typeface="Arial" pitchFamily="34" charset="0"/>
                <a:ea typeface="Arial" pitchFamily="34" charset="-122"/>
                <a:cs typeface="Arial" pitchFamily="34" charset="-120"/>
              </a:rPr>
              <a:t>verification harness wraps every answer</a:t>
            </a:r>
            <a:endParaRPr lang="en-US" sz="1050" dirty="0"/>
          </a:p>
        </p:txBody>
      </p:sp>
      <p:sp>
        <p:nvSpPr>
          <p:cNvPr id="17" name="Text 15"/>
          <p:cNvSpPr/>
          <p:nvPr/>
        </p:nvSpPr>
        <p:spPr>
          <a:xfrm>
            <a:off x="3703320" y="4544568"/>
            <a:ext cx="4709160" cy="274320"/>
          </a:xfrm>
          <a:prstGeom prst="rect">
            <a:avLst/>
          </a:prstGeom>
          <a:noFill/>
          <a:ln/>
        </p:spPr>
        <p:txBody>
          <a:bodyPr wrap="square" lIns="0" tIns="0" rIns="0" bIns="0" rtlCol="0" anchor="ctr"/>
          <a:lstStyle/>
          <a:p>
            <a:pPr algn="ctr" indent="0" marL="0">
              <a:buNone/>
            </a:pPr>
            <a:r>
              <a:rPr lang="en-US" sz="1200" b="1" dirty="0">
                <a:solidFill>
                  <a:srgbClr val="ED1C24"/>
                </a:solidFill>
                <a:latin typeface="Arial" pitchFamily="34" charset="0"/>
                <a:ea typeface="Arial" pitchFamily="34" charset="-122"/>
                <a:cs typeface="Arial" pitchFamily="34" charset="-120"/>
              </a:rPr>
              <a:t>runs fully offline — 0 external tokens</a:t>
            </a:r>
            <a:endParaRPr lang="en-US" sz="1200" dirty="0"/>
          </a:p>
        </p:txBody>
      </p:sp>
      <p:sp>
        <p:nvSpPr>
          <p:cNvPr id="18" name="Shape 16"/>
          <p:cNvSpPr/>
          <p:nvPr/>
        </p:nvSpPr>
        <p:spPr>
          <a:xfrm>
            <a:off x="8412480" y="3566160"/>
            <a:ext cx="822960" cy="0"/>
          </a:xfrm>
          <a:prstGeom prst="line">
            <a:avLst/>
          </a:prstGeom>
          <a:noFill/>
          <a:ln w="28575">
            <a:solidFill>
              <a:srgbClr val="26282C"/>
            </a:solidFill>
            <a:prstDash val="solid"/>
            <a:tailEnd type="triangle"/>
          </a:ln>
        </p:spPr>
      </p:sp>
      <p:sp>
        <p:nvSpPr>
          <p:cNvPr id="19" name="Text 17"/>
          <p:cNvSpPr/>
          <p:nvPr/>
        </p:nvSpPr>
        <p:spPr>
          <a:xfrm>
            <a:off x="8001000" y="3182112"/>
            <a:ext cx="1645920" cy="228600"/>
          </a:xfrm>
          <a:prstGeom prst="rect">
            <a:avLst/>
          </a:prstGeom>
          <a:noFill/>
          <a:ln/>
        </p:spPr>
        <p:txBody>
          <a:bodyPr wrap="square" lIns="0" tIns="0" rIns="0" bIns="0" rtlCol="0" anchor="ctr"/>
          <a:lstStyle/>
          <a:p>
            <a:pPr algn="ctr" indent="0" marL="0">
              <a:buNone/>
            </a:pPr>
            <a:r>
              <a:rPr lang="en-US" sz="1000" b="1" dirty="0">
                <a:solidFill>
                  <a:srgbClr val="26282C"/>
                </a:solidFill>
                <a:latin typeface="Arial" pitchFamily="34" charset="0"/>
                <a:ea typeface="Arial" pitchFamily="34" charset="-122"/>
                <a:cs typeface="Arial" pitchFamily="34" charset="-120"/>
              </a:rPr>
              <a:t>most answers</a:t>
            </a:r>
            <a:endParaRPr lang="en-US" sz="1000" dirty="0"/>
          </a:p>
        </p:txBody>
      </p:sp>
      <p:sp>
        <p:nvSpPr>
          <p:cNvPr id="20" name="Shape 18"/>
          <p:cNvSpPr/>
          <p:nvPr/>
        </p:nvSpPr>
        <p:spPr>
          <a:xfrm>
            <a:off x="9281160" y="3108960"/>
            <a:ext cx="2057400" cy="914400"/>
          </a:xfrm>
          <a:prstGeom prst="roundRect">
            <a:avLst>
              <a:gd name="adj" fmla="val 9000"/>
            </a:avLst>
          </a:prstGeom>
          <a:solidFill>
            <a:srgbClr val="FDEBEC"/>
          </a:solidFill>
          <a:ln/>
        </p:spPr>
      </p:sp>
      <p:sp>
        <p:nvSpPr>
          <p:cNvPr id="21" name="Text 19"/>
          <p:cNvSpPr/>
          <p:nvPr/>
        </p:nvSpPr>
        <p:spPr>
          <a:xfrm>
            <a:off x="9281160" y="3218688"/>
            <a:ext cx="2057400" cy="320040"/>
          </a:xfrm>
          <a:prstGeom prst="rect">
            <a:avLst/>
          </a:prstGeom>
          <a:noFill/>
          <a:ln/>
        </p:spPr>
        <p:txBody>
          <a:bodyPr wrap="square" lIns="0" tIns="0" rIns="0" bIns="0" rtlCol="0" anchor="ctr"/>
          <a:lstStyle/>
          <a:p>
            <a:pPr algn="ctr" indent="0" marL="0">
              <a:buNone/>
            </a:pPr>
            <a:r>
              <a:rPr lang="en-US" sz="1300" b="1" dirty="0">
                <a:solidFill>
                  <a:srgbClr val="26282C"/>
                </a:solidFill>
                <a:latin typeface="Courier New" pitchFamily="34" charset="0"/>
                <a:ea typeface="Courier New" pitchFamily="34" charset="-122"/>
                <a:cs typeface="Courier New" pitchFamily="34" charset="-120"/>
              </a:rPr>
              <a:t>results.json</a:t>
            </a:r>
            <a:endParaRPr lang="en-US" sz="1300" dirty="0"/>
          </a:p>
        </p:txBody>
      </p:sp>
      <p:sp>
        <p:nvSpPr>
          <p:cNvPr id="22" name="Text 20"/>
          <p:cNvSpPr/>
          <p:nvPr/>
        </p:nvSpPr>
        <p:spPr>
          <a:xfrm>
            <a:off x="9281160" y="3547872"/>
            <a:ext cx="2057400" cy="274320"/>
          </a:xfrm>
          <a:prstGeom prst="rect">
            <a:avLst/>
          </a:prstGeom>
          <a:noFill/>
          <a:ln/>
        </p:spPr>
        <p:txBody>
          <a:bodyPr wrap="square" lIns="0" tIns="0" rIns="0" bIns="0" rtlCol="0" anchor="ctr"/>
          <a:lstStyle/>
          <a:p>
            <a:pPr algn="ctr" indent="0" marL="0">
              <a:buNone/>
            </a:pPr>
            <a:r>
              <a:rPr lang="en-US" sz="1050" dirty="0">
                <a:solidFill>
                  <a:srgbClr val="63686E"/>
                </a:solidFill>
                <a:latin typeface="Arial" pitchFamily="34" charset="0"/>
                <a:ea typeface="Arial" pitchFamily="34" charset="-122"/>
                <a:cs typeface="Arial" pitchFamily="34" charset="-120"/>
              </a:rPr>
              <a:t>verified · atomic</a:t>
            </a:r>
            <a:endParaRPr lang="en-US" sz="1050" dirty="0"/>
          </a:p>
        </p:txBody>
      </p:sp>
      <p:sp>
        <p:nvSpPr>
          <p:cNvPr id="23" name="Shape 21"/>
          <p:cNvSpPr/>
          <p:nvPr/>
        </p:nvSpPr>
        <p:spPr>
          <a:xfrm>
            <a:off x="9006840" y="1481328"/>
            <a:ext cx="2331720" cy="841248"/>
          </a:xfrm>
          <a:prstGeom prst="roundRect">
            <a:avLst>
              <a:gd name="adj" fmla="val 9783"/>
            </a:avLst>
          </a:prstGeom>
          <a:solidFill>
            <a:srgbClr val="FFFFFF"/>
          </a:solidFill>
          <a:ln w="15875">
            <a:solidFill>
              <a:srgbClr val="E3E5E8"/>
            </a:solidFill>
            <a:prstDash val="solid"/>
          </a:ln>
        </p:spPr>
      </p:sp>
      <p:sp>
        <p:nvSpPr>
          <p:cNvPr id="24" name="Text 22"/>
          <p:cNvSpPr/>
          <p:nvPr/>
        </p:nvSpPr>
        <p:spPr>
          <a:xfrm>
            <a:off x="9006840" y="1572768"/>
            <a:ext cx="2331720" cy="292608"/>
          </a:xfrm>
          <a:prstGeom prst="rect">
            <a:avLst/>
          </a:prstGeom>
          <a:noFill/>
          <a:ln/>
        </p:spPr>
        <p:txBody>
          <a:bodyPr wrap="square" lIns="0" tIns="0" rIns="0" bIns="0" rtlCol="0" anchor="ctr"/>
          <a:lstStyle/>
          <a:p>
            <a:pPr algn="ctr" indent="0" marL="0">
              <a:buNone/>
            </a:pPr>
            <a:r>
              <a:rPr lang="en-US" sz="1250" b="1" dirty="0">
                <a:solidFill>
                  <a:srgbClr val="26282C"/>
                </a:solidFill>
                <a:latin typeface="Arial" pitchFamily="34" charset="0"/>
                <a:ea typeface="Arial" pitchFamily="34" charset="-122"/>
                <a:cs typeface="Arial" pitchFamily="34" charset="-120"/>
              </a:rPr>
              <a:t>Fireworks AI</a:t>
            </a:r>
            <a:endParaRPr lang="en-US" sz="1250" dirty="0"/>
          </a:p>
        </p:txBody>
      </p:sp>
      <p:sp>
        <p:nvSpPr>
          <p:cNvPr id="25" name="Text 23"/>
          <p:cNvSpPr/>
          <p:nvPr/>
        </p:nvSpPr>
        <p:spPr>
          <a:xfrm>
            <a:off x="9006840" y="1865376"/>
            <a:ext cx="2331720" cy="384048"/>
          </a:xfrm>
          <a:prstGeom prst="rect">
            <a:avLst/>
          </a:prstGeom>
          <a:noFill/>
          <a:ln/>
        </p:spPr>
        <p:txBody>
          <a:bodyPr wrap="square" lIns="0" tIns="0" rIns="0" bIns="0" rtlCol="0" anchor="ctr"/>
          <a:lstStyle/>
          <a:p>
            <a:pPr algn="ctr" indent="0" marL="0">
              <a:buNone/>
            </a:pPr>
            <a:r>
              <a:rPr lang="en-US" sz="950" dirty="0">
                <a:solidFill>
                  <a:srgbClr val="63686E"/>
                </a:solidFill>
                <a:latin typeface="Arial" pitchFamily="34" charset="0"/>
                <a:ea typeface="Arial" pitchFamily="34" charset="-122"/>
                <a:cs typeface="Arial" pitchFamily="34" charset="-120"/>
              </a:rPr>
              <a:t>only what local checks can’t certify</a:t>
            </a:r>
            <a:endParaRPr lang="en-US" sz="950" dirty="0"/>
          </a:p>
        </p:txBody>
      </p:sp>
      <p:sp>
        <p:nvSpPr>
          <p:cNvPr id="26" name="Shape 24"/>
          <p:cNvSpPr/>
          <p:nvPr/>
        </p:nvSpPr>
        <p:spPr>
          <a:xfrm flipV="1">
            <a:off x="8092440" y="1901952"/>
            <a:ext cx="914400" cy="246888"/>
          </a:xfrm>
          <a:prstGeom prst="line">
            <a:avLst/>
          </a:prstGeom>
          <a:noFill/>
          <a:ln w="22225">
            <a:solidFill>
              <a:srgbClr val="ED1C24"/>
            </a:solidFill>
            <a:prstDash val="dash"/>
            <a:tailEnd type="triangle"/>
          </a:ln>
        </p:spPr>
      </p:sp>
      <p:sp>
        <p:nvSpPr>
          <p:cNvPr id="27" name="Text 25"/>
          <p:cNvSpPr/>
          <p:nvPr/>
        </p:nvSpPr>
        <p:spPr>
          <a:xfrm>
            <a:off x="822960" y="5440680"/>
            <a:ext cx="10515600" cy="685800"/>
          </a:xfrm>
          <a:prstGeom prst="rect">
            <a:avLst/>
          </a:prstGeom>
          <a:noFill/>
          <a:ln/>
        </p:spPr>
        <p:txBody>
          <a:bodyPr wrap="square" lIns="0" tIns="0" rIns="0" bIns="0" rtlCol="0" anchor="ctr"/>
          <a:lstStyle/>
          <a:p>
            <a:pPr indent="0" marL="0">
              <a:lnSpc>
                <a:spcPct val="120000"/>
              </a:lnSpc>
              <a:buNone/>
            </a:pPr>
            <a:r>
              <a:rPr lang="en-US" sz="1300" dirty="0">
                <a:solidFill>
                  <a:srgbClr val="63686E"/>
                </a:solidFill>
                <a:latin typeface="Arial" pitchFamily="34" charset="0"/>
                <a:ea typeface="Arial" pitchFamily="34" charset="-122"/>
                <a:cs typeface="Arial" pitchFamily="34" charset="-120"/>
              </a:rPr>
              <a:t>Two small quantized LLMs are baked into the 2.24 GB image and run entirely on the grading CPUs. Local inference costs zero external tokens; Fireworks is reserved for the few answers local verification can’t certify.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indent="0" marL="0">
              <a:buNone/>
            </a:pPr>
            <a:r>
              <a:rPr lang="en-US" sz="3400" b="1" dirty="0">
                <a:solidFill>
                  <a:srgbClr val="26282C"/>
                </a:solidFill>
                <a:latin typeface="Arial" pitchFamily="34" charset="0"/>
                <a:ea typeface="Arial" pitchFamily="34" charset="-122"/>
                <a:cs typeface="Arial" pitchFamily="34" charset="-120"/>
              </a:rPr>
              <a:t>Verification, not trust</a:t>
            </a:r>
            <a:endParaRPr lang="en-US" sz="3400" dirty="0"/>
          </a:p>
        </p:txBody>
      </p:sp>
      <p:sp>
        <p:nvSpPr>
          <p:cNvPr id="3" name="Text 1"/>
          <p:cNvSpPr/>
          <p:nvPr/>
        </p:nvSpPr>
        <p:spPr>
          <a:xfrm>
            <a:off x="822960" y="1042416"/>
            <a:ext cx="10515600" cy="292608"/>
          </a:xfrm>
          <a:prstGeom prst="rect">
            <a:avLst/>
          </a:prstGeom>
          <a:noFill/>
          <a:ln/>
        </p:spPr>
        <p:txBody>
          <a:bodyPr wrap="square" lIns="0" tIns="0" rIns="0" bIns="0" rtlCol="0" anchor="ctr"/>
          <a:lstStyle/>
          <a:p>
            <a:pPr indent="0" marL="0">
              <a:buNone/>
            </a:pPr>
            <a:r>
              <a:rPr lang="en-US" sz="1400" dirty="0">
                <a:solidFill>
                  <a:srgbClr val="63686E"/>
                </a:solidFill>
                <a:latin typeface="Arial" pitchFamily="34" charset="0"/>
                <a:ea typeface="Arial" pitchFamily="34" charset="-122"/>
                <a:cs typeface="Arial" pitchFamily="34" charset="-120"/>
              </a:rPr>
              <a:t>Small models can’t be trusted raw — nothing ships unverified.</a:t>
            </a:r>
            <a:endParaRPr lang="en-US" sz="1400" dirty="0"/>
          </a:p>
        </p:txBody>
      </p:sp>
      <p:sp>
        <p:nvSpPr>
          <p:cNvPr id="4" name="Shape 2"/>
          <p:cNvSpPr/>
          <p:nvPr/>
        </p:nvSpPr>
        <p:spPr>
          <a:xfrm>
            <a:off x="822960" y="1481328"/>
            <a:ext cx="5230368" cy="1828800"/>
          </a:xfrm>
          <a:prstGeom prst="roundRect">
            <a:avLst>
              <a:gd name="adj" fmla="val 5000"/>
            </a:avLst>
          </a:prstGeom>
          <a:solidFill>
            <a:srgbClr val="F6F7F8"/>
          </a:solidFill>
          <a:ln/>
        </p:spPr>
      </p:sp>
      <p:sp>
        <p:nvSpPr>
          <p:cNvPr id="5" name="Shape 3"/>
          <p:cNvSpPr/>
          <p:nvPr/>
        </p:nvSpPr>
        <p:spPr>
          <a:xfrm>
            <a:off x="1078992" y="1737360"/>
            <a:ext cx="457200" cy="457200"/>
          </a:xfrm>
          <a:prstGeom prst="ellipse">
            <a:avLst/>
          </a:prstGeom>
          <a:solidFill>
            <a:srgbClr val="FDEBEC"/>
          </a:solidFill>
          <a:ln/>
        </p:spPr>
      </p:sp>
      <p:pic>
        <p:nvPicPr>
          <p:cNvPr id="6" name="Image 0" descr="preencoded.png">    </p:cNvPr>
          <p:cNvPicPr>
            <a:picLocks noChangeAspect="1"/>
          </p:cNvPicPr>
          <p:nvPr/>
        </p:nvPicPr>
        <p:blipFill>
          <a:blip r:embed="rId1"/>
          <a:stretch>
            <a:fillRect/>
          </a:stretch>
        </p:blipFill>
        <p:spPr>
          <a:xfrm>
            <a:off x="1188720" y="1847088"/>
            <a:ext cx="237744" cy="237744"/>
          </a:xfrm>
          <a:prstGeom prst="rect">
            <a:avLst/>
          </a:prstGeom>
        </p:spPr>
      </p:pic>
      <p:sp>
        <p:nvSpPr>
          <p:cNvPr id="7" name="Text 4"/>
          <p:cNvSpPr/>
          <p:nvPr/>
        </p:nvSpPr>
        <p:spPr>
          <a:xfrm>
            <a:off x="1719072" y="1773936"/>
            <a:ext cx="4087368"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Math</a:t>
            </a:r>
            <a:endParaRPr lang="en-US" sz="1650" dirty="0"/>
          </a:p>
        </p:txBody>
      </p:sp>
      <p:sp>
        <p:nvSpPr>
          <p:cNvPr id="8" name="Text 5"/>
          <p:cNvSpPr/>
          <p:nvPr/>
        </p:nvSpPr>
        <p:spPr>
          <a:xfrm>
            <a:off x="1719072" y="2139696"/>
            <a:ext cx="4041648" cy="1005840"/>
          </a:xfrm>
          <a:prstGeom prst="rect">
            <a:avLst/>
          </a:prstGeom>
          <a:noFill/>
          <a:ln/>
        </p:spPr>
        <p:txBody>
          <a:bodyPr wrap="square" lIns="0" tIns="0" rIns="0" bIns="0" rtlCol="0" anchor="t"/>
          <a:lstStyle/>
          <a:p>
            <a:pPr indent="0" marL="0">
              <a:lnSpc>
                <a:spcPct val="115000"/>
              </a:lnSpc>
              <a:buNone/>
            </a:pPr>
            <a:r>
              <a:rPr lang="en-US" sz="1225" dirty="0">
                <a:solidFill>
                  <a:srgbClr val="63686E"/>
                </a:solidFill>
                <a:latin typeface="Arial" pitchFamily="34" charset="0"/>
                <a:ea typeface="Arial" pitchFamily="34" charset="-122"/>
                <a:cs typeface="Arial" pitchFamily="34" charset="-120"/>
              </a:rPr>
              <a:t>The model writes a Python program. We execute it, then majority-vote the computed number across samples.</a:t>
            </a:r>
            <a:endParaRPr lang="en-US" sz="1225" dirty="0"/>
          </a:p>
        </p:txBody>
      </p:sp>
      <p:sp>
        <p:nvSpPr>
          <p:cNvPr id="9" name="Shape 6"/>
          <p:cNvSpPr/>
          <p:nvPr/>
        </p:nvSpPr>
        <p:spPr>
          <a:xfrm>
            <a:off x="6327648" y="1481328"/>
            <a:ext cx="5230368" cy="1828800"/>
          </a:xfrm>
          <a:prstGeom prst="roundRect">
            <a:avLst>
              <a:gd name="adj" fmla="val 5000"/>
            </a:avLst>
          </a:prstGeom>
          <a:solidFill>
            <a:srgbClr val="F6F7F8"/>
          </a:solidFill>
          <a:ln/>
        </p:spPr>
      </p:sp>
      <p:sp>
        <p:nvSpPr>
          <p:cNvPr id="10" name="Shape 7"/>
          <p:cNvSpPr/>
          <p:nvPr/>
        </p:nvSpPr>
        <p:spPr>
          <a:xfrm>
            <a:off x="6583680" y="1737360"/>
            <a:ext cx="457200" cy="457200"/>
          </a:xfrm>
          <a:prstGeom prst="ellipse">
            <a:avLst/>
          </a:prstGeom>
          <a:solidFill>
            <a:srgbClr val="FDEBEC"/>
          </a:solidFill>
          <a:ln/>
        </p:spPr>
      </p:sp>
      <p:pic>
        <p:nvPicPr>
          <p:cNvPr id="11" name="Image 1" descr="preencoded.png">    </p:cNvPr>
          <p:cNvPicPr>
            <a:picLocks noChangeAspect="1"/>
          </p:cNvPicPr>
          <p:nvPr/>
        </p:nvPicPr>
        <p:blipFill>
          <a:blip r:embed="rId2"/>
          <a:stretch>
            <a:fillRect/>
          </a:stretch>
        </p:blipFill>
        <p:spPr>
          <a:xfrm>
            <a:off x="6693408" y="1847088"/>
            <a:ext cx="237744" cy="237744"/>
          </a:xfrm>
          <a:prstGeom prst="rect">
            <a:avLst/>
          </a:prstGeom>
        </p:spPr>
      </p:pic>
      <p:sp>
        <p:nvSpPr>
          <p:cNvPr id="12" name="Text 8"/>
          <p:cNvSpPr/>
          <p:nvPr/>
        </p:nvSpPr>
        <p:spPr>
          <a:xfrm>
            <a:off x="7223760" y="1773936"/>
            <a:ext cx="4087368"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Code</a:t>
            </a:r>
            <a:endParaRPr lang="en-US" sz="1650" dirty="0"/>
          </a:p>
        </p:txBody>
      </p:sp>
      <p:sp>
        <p:nvSpPr>
          <p:cNvPr id="13" name="Text 9"/>
          <p:cNvSpPr/>
          <p:nvPr/>
        </p:nvSpPr>
        <p:spPr>
          <a:xfrm>
            <a:off x="7223760" y="2139696"/>
            <a:ext cx="4041648" cy="1005840"/>
          </a:xfrm>
          <a:prstGeom prst="rect">
            <a:avLst/>
          </a:prstGeom>
          <a:noFill/>
          <a:ln/>
        </p:spPr>
        <p:txBody>
          <a:bodyPr wrap="square" lIns="0" tIns="0" rIns="0" bIns="0" rtlCol="0" anchor="t"/>
          <a:lstStyle/>
          <a:p>
            <a:pPr indent="0" marL="0">
              <a:lnSpc>
                <a:spcPct val="115000"/>
              </a:lnSpc>
              <a:buNone/>
            </a:pPr>
            <a:r>
              <a:rPr lang="en-US" sz="1225" dirty="0">
                <a:solidFill>
                  <a:srgbClr val="63686E"/>
                </a:solidFill>
                <a:latin typeface="Arial" pitchFamily="34" charset="0"/>
                <a:ea typeface="Arial" pitchFamily="34" charset="-122"/>
                <a:cs typeface="Arial" pitchFamily="34" charset="-120"/>
              </a:rPr>
              <a:t>Two independently sampled implementations must agree on observed behavior — disagreement triggers a third and a vote.</a:t>
            </a:r>
            <a:endParaRPr lang="en-US" sz="1225" dirty="0"/>
          </a:p>
        </p:txBody>
      </p:sp>
      <p:sp>
        <p:nvSpPr>
          <p:cNvPr id="14" name="Shape 10"/>
          <p:cNvSpPr/>
          <p:nvPr/>
        </p:nvSpPr>
        <p:spPr>
          <a:xfrm>
            <a:off x="822960" y="3584448"/>
            <a:ext cx="5230368" cy="1828800"/>
          </a:xfrm>
          <a:prstGeom prst="roundRect">
            <a:avLst>
              <a:gd name="adj" fmla="val 5000"/>
            </a:avLst>
          </a:prstGeom>
          <a:solidFill>
            <a:srgbClr val="F6F7F8"/>
          </a:solidFill>
          <a:ln/>
        </p:spPr>
      </p:sp>
      <p:sp>
        <p:nvSpPr>
          <p:cNvPr id="15" name="Shape 11"/>
          <p:cNvSpPr/>
          <p:nvPr/>
        </p:nvSpPr>
        <p:spPr>
          <a:xfrm>
            <a:off x="1078992" y="3840480"/>
            <a:ext cx="457200" cy="457200"/>
          </a:xfrm>
          <a:prstGeom prst="ellipse">
            <a:avLst/>
          </a:prstGeom>
          <a:solidFill>
            <a:srgbClr val="FDEBEC"/>
          </a:solidFill>
          <a:ln/>
        </p:spPr>
      </p:sp>
      <p:pic>
        <p:nvPicPr>
          <p:cNvPr id="16" name="Image 2" descr="preencoded.png">    </p:cNvPr>
          <p:cNvPicPr>
            <a:picLocks noChangeAspect="1"/>
          </p:cNvPicPr>
          <p:nvPr/>
        </p:nvPicPr>
        <p:blipFill>
          <a:blip r:embed="rId3"/>
          <a:stretch>
            <a:fillRect/>
          </a:stretch>
        </p:blipFill>
        <p:spPr>
          <a:xfrm>
            <a:off x="1188720" y="3950208"/>
            <a:ext cx="237744" cy="237744"/>
          </a:xfrm>
          <a:prstGeom prst="rect">
            <a:avLst/>
          </a:prstGeom>
        </p:spPr>
      </p:pic>
      <p:sp>
        <p:nvSpPr>
          <p:cNvPr id="17" name="Text 12"/>
          <p:cNvSpPr/>
          <p:nvPr/>
        </p:nvSpPr>
        <p:spPr>
          <a:xfrm>
            <a:off x="1719072" y="3877056"/>
            <a:ext cx="4087368"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Logic</a:t>
            </a:r>
            <a:endParaRPr lang="en-US" sz="1650" dirty="0"/>
          </a:p>
        </p:txBody>
      </p:sp>
      <p:sp>
        <p:nvSpPr>
          <p:cNvPr id="18" name="Text 13"/>
          <p:cNvSpPr/>
          <p:nvPr/>
        </p:nvSpPr>
        <p:spPr>
          <a:xfrm>
            <a:off x="1719072" y="4242816"/>
            <a:ext cx="4041648" cy="1005840"/>
          </a:xfrm>
          <a:prstGeom prst="rect">
            <a:avLst/>
          </a:prstGeom>
          <a:noFill/>
          <a:ln/>
        </p:spPr>
        <p:txBody>
          <a:bodyPr wrap="square" lIns="0" tIns="0" rIns="0" bIns="0" rtlCol="0" anchor="t"/>
          <a:lstStyle/>
          <a:p>
            <a:pPr indent="0" marL="0">
              <a:lnSpc>
                <a:spcPct val="115000"/>
              </a:lnSpc>
              <a:buNone/>
            </a:pPr>
            <a:r>
              <a:rPr lang="en-US" sz="1225" dirty="0">
                <a:solidFill>
                  <a:srgbClr val="63686E"/>
                </a:solidFill>
                <a:latin typeface="Arial" pitchFamily="34" charset="0"/>
                <a:ea typeface="Arial" pitchFamily="34" charset="-122"/>
                <a:cs typeface="Arial" pitchFamily="34" charset="-120"/>
              </a:rPr>
              <a:t>Entities and constraints extracted to JSON, every assignment brute-forced — an answer ships only with a proven unique solution.</a:t>
            </a:r>
            <a:endParaRPr lang="en-US" sz="1225" dirty="0"/>
          </a:p>
        </p:txBody>
      </p:sp>
      <p:sp>
        <p:nvSpPr>
          <p:cNvPr id="19" name="Shape 14"/>
          <p:cNvSpPr/>
          <p:nvPr/>
        </p:nvSpPr>
        <p:spPr>
          <a:xfrm>
            <a:off x="6327648" y="3584448"/>
            <a:ext cx="5230368" cy="1828800"/>
          </a:xfrm>
          <a:prstGeom prst="roundRect">
            <a:avLst>
              <a:gd name="adj" fmla="val 5000"/>
            </a:avLst>
          </a:prstGeom>
          <a:solidFill>
            <a:srgbClr val="F6F7F8"/>
          </a:solidFill>
          <a:ln/>
        </p:spPr>
      </p:sp>
      <p:sp>
        <p:nvSpPr>
          <p:cNvPr id="20" name="Shape 15"/>
          <p:cNvSpPr/>
          <p:nvPr/>
        </p:nvSpPr>
        <p:spPr>
          <a:xfrm>
            <a:off x="6583680" y="3840480"/>
            <a:ext cx="457200" cy="457200"/>
          </a:xfrm>
          <a:prstGeom prst="ellipse">
            <a:avLst/>
          </a:prstGeom>
          <a:solidFill>
            <a:srgbClr val="FDEBEC"/>
          </a:solidFill>
          <a:ln/>
        </p:spPr>
      </p:sp>
      <p:pic>
        <p:nvPicPr>
          <p:cNvPr id="21" name="Image 3" descr="preencoded.png">    </p:cNvPr>
          <p:cNvPicPr>
            <a:picLocks noChangeAspect="1"/>
          </p:cNvPicPr>
          <p:nvPr/>
        </p:nvPicPr>
        <p:blipFill>
          <a:blip r:embed="rId4"/>
          <a:stretch>
            <a:fillRect/>
          </a:stretch>
        </p:blipFill>
        <p:spPr>
          <a:xfrm>
            <a:off x="6693408" y="3950208"/>
            <a:ext cx="237744" cy="237744"/>
          </a:xfrm>
          <a:prstGeom prst="rect">
            <a:avLst/>
          </a:prstGeom>
        </p:spPr>
      </p:pic>
      <p:sp>
        <p:nvSpPr>
          <p:cNvPr id="22" name="Text 16"/>
          <p:cNvSpPr/>
          <p:nvPr/>
        </p:nvSpPr>
        <p:spPr>
          <a:xfrm>
            <a:off x="7223760" y="3877056"/>
            <a:ext cx="4087368"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Formats</a:t>
            </a:r>
            <a:endParaRPr lang="en-US" sz="1650" dirty="0"/>
          </a:p>
        </p:txBody>
      </p:sp>
      <p:sp>
        <p:nvSpPr>
          <p:cNvPr id="23" name="Text 17"/>
          <p:cNvSpPr/>
          <p:nvPr/>
        </p:nvSpPr>
        <p:spPr>
          <a:xfrm>
            <a:off x="7223760" y="4242816"/>
            <a:ext cx="4041648" cy="1005840"/>
          </a:xfrm>
          <a:prstGeom prst="rect">
            <a:avLst/>
          </a:prstGeom>
          <a:noFill/>
          <a:ln/>
        </p:spPr>
        <p:txBody>
          <a:bodyPr wrap="square" lIns="0" tIns="0" rIns="0" bIns="0" rtlCol="0" anchor="t"/>
          <a:lstStyle/>
          <a:p>
            <a:pPr indent="0" marL="0">
              <a:lnSpc>
                <a:spcPct val="115000"/>
              </a:lnSpc>
              <a:buNone/>
            </a:pPr>
            <a:r>
              <a:rPr lang="en-US" sz="1225" dirty="0">
                <a:solidFill>
                  <a:srgbClr val="63686E"/>
                </a:solidFill>
                <a:latin typeface="Arial" pitchFamily="34" charset="0"/>
                <a:ea typeface="Arial" pitchFamily="34" charset="-122"/>
                <a:cs typeface="Arial" pitchFamily="34" charset="-120"/>
              </a:rPr>
              <a:t>Grammar-constrained decoding (GBNF) makes invalid labels impossible; sentence and word counts are enforced programmatically.</a:t>
            </a:r>
            <a:endParaRPr lang="en-US" sz="1225" dirty="0"/>
          </a:p>
        </p:txBody>
      </p:sp>
      <p:sp>
        <p:nvSpPr>
          <p:cNvPr id="24" name="Shape 18"/>
          <p:cNvSpPr/>
          <p:nvPr/>
        </p:nvSpPr>
        <p:spPr>
          <a:xfrm>
            <a:off x="2377440" y="5806440"/>
            <a:ext cx="1965960" cy="420624"/>
          </a:xfrm>
          <a:prstGeom prst="roundRect">
            <a:avLst>
              <a:gd name="adj" fmla="val 17391"/>
            </a:avLst>
          </a:prstGeom>
          <a:solidFill>
            <a:srgbClr val="F6F7F8"/>
          </a:solidFill>
          <a:ln/>
        </p:spPr>
      </p:sp>
      <p:sp>
        <p:nvSpPr>
          <p:cNvPr id="25" name="Text 19"/>
          <p:cNvSpPr/>
          <p:nvPr/>
        </p:nvSpPr>
        <p:spPr>
          <a:xfrm>
            <a:off x="2377440" y="5806440"/>
            <a:ext cx="1965960" cy="420624"/>
          </a:xfrm>
          <a:prstGeom prst="rect">
            <a:avLst/>
          </a:prstGeom>
          <a:noFill/>
          <a:ln/>
        </p:spPr>
        <p:txBody>
          <a:bodyPr wrap="square" lIns="0" tIns="0" rIns="0" bIns="0" rtlCol="0" anchor="ctr"/>
          <a:lstStyle/>
          <a:p>
            <a:pPr algn="ctr" indent="0" marL="0">
              <a:buNone/>
            </a:pPr>
            <a:r>
              <a:rPr lang="en-US" sz="1200" b="1" dirty="0">
                <a:solidFill>
                  <a:srgbClr val="26282C"/>
                </a:solidFill>
                <a:latin typeface="Arial" pitchFamily="34" charset="0"/>
                <a:ea typeface="Arial" pitchFamily="34" charset="-122"/>
                <a:cs typeface="Arial" pitchFamily="34" charset="-120"/>
              </a:rPr>
              <a:t>verification outcome</a:t>
            </a:r>
            <a:endParaRPr lang="en-US" sz="1200" dirty="0"/>
          </a:p>
        </p:txBody>
      </p:sp>
      <p:sp>
        <p:nvSpPr>
          <p:cNvPr id="26" name="Shape 20"/>
          <p:cNvSpPr/>
          <p:nvPr/>
        </p:nvSpPr>
        <p:spPr>
          <a:xfrm>
            <a:off x="4434840" y="6016752"/>
            <a:ext cx="411480" cy="0"/>
          </a:xfrm>
          <a:prstGeom prst="line">
            <a:avLst/>
          </a:prstGeom>
          <a:noFill/>
          <a:ln w="22225">
            <a:solidFill>
              <a:srgbClr val="63686E"/>
            </a:solidFill>
            <a:prstDash val="solid"/>
            <a:tailEnd type="triangle"/>
          </a:ln>
        </p:spPr>
      </p:sp>
      <p:sp>
        <p:nvSpPr>
          <p:cNvPr id="27" name="Shape 21"/>
          <p:cNvSpPr/>
          <p:nvPr/>
        </p:nvSpPr>
        <p:spPr>
          <a:xfrm>
            <a:off x="4937760" y="5806440"/>
            <a:ext cx="1645920" cy="420624"/>
          </a:xfrm>
          <a:prstGeom prst="roundRect">
            <a:avLst>
              <a:gd name="adj" fmla="val 17391"/>
            </a:avLst>
          </a:prstGeom>
          <a:solidFill>
            <a:srgbClr val="F6F7F8"/>
          </a:solidFill>
          <a:ln/>
        </p:spPr>
      </p:sp>
      <p:sp>
        <p:nvSpPr>
          <p:cNvPr id="28" name="Text 22"/>
          <p:cNvSpPr/>
          <p:nvPr/>
        </p:nvSpPr>
        <p:spPr>
          <a:xfrm>
            <a:off x="4937760" y="5806440"/>
            <a:ext cx="1645920" cy="420624"/>
          </a:xfrm>
          <a:prstGeom prst="rect">
            <a:avLst/>
          </a:prstGeom>
          <a:noFill/>
          <a:ln/>
        </p:spPr>
        <p:txBody>
          <a:bodyPr wrap="square" lIns="0" tIns="0" rIns="0" bIns="0" rtlCol="0" anchor="ctr"/>
          <a:lstStyle/>
          <a:p>
            <a:pPr algn="ctr" indent="0" marL="0">
              <a:buNone/>
            </a:pPr>
            <a:r>
              <a:rPr lang="en-US" sz="1200" b="1" dirty="0">
                <a:solidFill>
                  <a:srgbClr val="26282C"/>
                </a:solidFill>
                <a:latin typeface="Arial" pitchFamily="34" charset="0"/>
                <a:ea typeface="Arial" pitchFamily="34" charset="-122"/>
                <a:cs typeface="Arial" pitchFamily="34" charset="-120"/>
              </a:rPr>
              <a:t>confidence score</a:t>
            </a:r>
            <a:endParaRPr lang="en-US" sz="1200" dirty="0"/>
          </a:p>
        </p:txBody>
      </p:sp>
      <p:sp>
        <p:nvSpPr>
          <p:cNvPr id="29" name="Shape 23"/>
          <p:cNvSpPr/>
          <p:nvPr/>
        </p:nvSpPr>
        <p:spPr>
          <a:xfrm>
            <a:off x="6675120" y="6016752"/>
            <a:ext cx="411480" cy="0"/>
          </a:xfrm>
          <a:prstGeom prst="line">
            <a:avLst/>
          </a:prstGeom>
          <a:noFill/>
          <a:ln w="22225">
            <a:solidFill>
              <a:srgbClr val="63686E"/>
            </a:solidFill>
            <a:prstDash val="solid"/>
            <a:tailEnd type="triangle"/>
          </a:ln>
        </p:spPr>
      </p:sp>
      <p:sp>
        <p:nvSpPr>
          <p:cNvPr id="30" name="Shape 24"/>
          <p:cNvSpPr/>
          <p:nvPr/>
        </p:nvSpPr>
        <p:spPr>
          <a:xfrm>
            <a:off x="7178040" y="5806440"/>
            <a:ext cx="2514600" cy="420624"/>
          </a:xfrm>
          <a:prstGeom prst="roundRect">
            <a:avLst>
              <a:gd name="adj" fmla="val 17391"/>
            </a:avLst>
          </a:prstGeom>
          <a:solidFill>
            <a:srgbClr val="ED1C24"/>
          </a:solidFill>
          <a:ln/>
        </p:spPr>
      </p:sp>
      <p:sp>
        <p:nvSpPr>
          <p:cNvPr id="31" name="Text 25"/>
          <p:cNvSpPr/>
          <p:nvPr/>
        </p:nvSpPr>
        <p:spPr>
          <a:xfrm>
            <a:off x="7178040" y="5806440"/>
            <a:ext cx="2514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escalate only if conf &lt; 0.55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indent="0" marL="0">
              <a:buNone/>
            </a:pPr>
            <a:r>
              <a:rPr lang="en-US" sz="3400" b="1" dirty="0">
                <a:solidFill>
                  <a:srgbClr val="26282C"/>
                </a:solidFill>
                <a:latin typeface="Arial" pitchFamily="34" charset="0"/>
                <a:ea typeface="Arial" pitchFamily="34" charset="-122"/>
                <a:cs typeface="Arial" pitchFamily="34" charset="-120"/>
              </a:rPr>
              <a:t>Smart escalation</a:t>
            </a:r>
            <a:endParaRPr lang="en-US" sz="3400" dirty="0"/>
          </a:p>
        </p:txBody>
      </p:sp>
      <p:sp>
        <p:nvSpPr>
          <p:cNvPr id="3" name="Shape 1"/>
          <p:cNvSpPr/>
          <p:nvPr/>
        </p:nvSpPr>
        <p:spPr>
          <a:xfrm>
            <a:off x="822960" y="1618488"/>
            <a:ext cx="530352" cy="530352"/>
          </a:xfrm>
          <a:prstGeom prst="ellipse">
            <a:avLst/>
          </a:prstGeom>
          <a:solidFill>
            <a:srgbClr val="FDEBEC"/>
          </a:solidFill>
          <a:ln/>
        </p:spPr>
      </p:sp>
      <p:pic>
        <p:nvPicPr>
          <p:cNvPr id="4" name="Image 0" descr="preencoded.png">    </p:cNvPr>
          <p:cNvPicPr>
            <a:picLocks noChangeAspect="1"/>
          </p:cNvPicPr>
          <p:nvPr/>
        </p:nvPicPr>
        <p:blipFill>
          <a:blip r:embed="rId1"/>
          <a:stretch>
            <a:fillRect/>
          </a:stretch>
        </p:blipFill>
        <p:spPr>
          <a:xfrm>
            <a:off x="950244" y="1745772"/>
            <a:ext cx="275783" cy="275783"/>
          </a:xfrm>
          <a:prstGeom prst="rect">
            <a:avLst/>
          </a:prstGeom>
        </p:spPr>
      </p:pic>
      <p:sp>
        <p:nvSpPr>
          <p:cNvPr id="5" name="Text 2"/>
          <p:cNvSpPr/>
          <p:nvPr/>
        </p:nvSpPr>
        <p:spPr>
          <a:xfrm>
            <a:off x="1600200" y="1600200"/>
            <a:ext cx="512064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Weakest answers, cheapest models first</a:t>
            </a:r>
            <a:endParaRPr lang="en-US" sz="1650" dirty="0"/>
          </a:p>
        </p:txBody>
      </p:sp>
      <p:sp>
        <p:nvSpPr>
          <p:cNvPr id="6" name="Text 3"/>
          <p:cNvSpPr/>
          <p:nvPr/>
        </p:nvSpPr>
        <p:spPr>
          <a:xfrm>
            <a:off x="1600200" y="1929384"/>
            <a:ext cx="512064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Below-threshold answers escalate sequentially, cheapest-estimated-first, with reasoning_effort: low and tight output caps.</a:t>
            </a:r>
            <a:endParaRPr lang="en-US" sz="1300" dirty="0"/>
          </a:p>
        </p:txBody>
      </p:sp>
      <p:sp>
        <p:nvSpPr>
          <p:cNvPr id="7" name="Shape 4"/>
          <p:cNvSpPr/>
          <p:nvPr/>
        </p:nvSpPr>
        <p:spPr>
          <a:xfrm>
            <a:off x="822960" y="3035808"/>
            <a:ext cx="530352" cy="530352"/>
          </a:xfrm>
          <a:prstGeom prst="ellipse">
            <a:avLst/>
          </a:prstGeom>
          <a:solidFill>
            <a:srgbClr val="FDEBEC"/>
          </a:solidFill>
          <a:ln/>
        </p:spPr>
      </p:sp>
      <p:pic>
        <p:nvPicPr>
          <p:cNvPr id="8" name="Image 1" descr="preencoded.png">    </p:cNvPr>
          <p:cNvPicPr>
            <a:picLocks noChangeAspect="1"/>
          </p:cNvPicPr>
          <p:nvPr/>
        </p:nvPicPr>
        <p:blipFill>
          <a:blip r:embed="rId2"/>
          <a:stretch>
            <a:fillRect/>
          </a:stretch>
        </p:blipFill>
        <p:spPr>
          <a:xfrm>
            <a:off x="950244" y="3163092"/>
            <a:ext cx="275783" cy="275783"/>
          </a:xfrm>
          <a:prstGeom prst="rect">
            <a:avLst/>
          </a:prstGeom>
        </p:spPr>
      </p:pic>
      <p:sp>
        <p:nvSpPr>
          <p:cNvPr id="9" name="Text 5"/>
          <p:cNvSpPr/>
          <p:nvPr/>
        </p:nvSpPr>
        <p:spPr>
          <a:xfrm>
            <a:off x="1600200" y="3017520"/>
            <a:ext cx="512064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Live-measured most frugal model</a:t>
            </a:r>
            <a:endParaRPr lang="en-US" sz="1650" dirty="0"/>
          </a:p>
        </p:txBody>
      </p:sp>
      <p:sp>
        <p:nvSpPr>
          <p:cNvPr id="10" name="Text 6"/>
          <p:cNvSpPr/>
          <p:nvPr/>
        </p:nvSpPr>
        <p:spPr>
          <a:xfrm>
            <a:off x="1600200" y="3346704"/>
            <a:ext cx="512064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We benchmarked every serverless model: gpt-oss-120b at low reasoning effort — 137 tokens for a complete word problem.</a:t>
            </a:r>
            <a:endParaRPr lang="en-US" sz="1300" dirty="0"/>
          </a:p>
        </p:txBody>
      </p:sp>
      <p:sp>
        <p:nvSpPr>
          <p:cNvPr id="11" name="Shape 7"/>
          <p:cNvSpPr/>
          <p:nvPr/>
        </p:nvSpPr>
        <p:spPr>
          <a:xfrm>
            <a:off x="822960" y="4453128"/>
            <a:ext cx="530352" cy="530352"/>
          </a:xfrm>
          <a:prstGeom prst="ellipse">
            <a:avLst/>
          </a:prstGeom>
          <a:solidFill>
            <a:srgbClr val="FDEBEC"/>
          </a:solidFill>
          <a:ln/>
        </p:spPr>
      </p:sp>
      <p:pic>
        <p:nvPicPr>
          <p:cNvPr id="12" name="Image 2" descr="preencoded.png">    </p:cNvPr>
          <p:cNvPicPr>
            <a:picLocks noChangeAspect="1"/>
          </p:cNvPicPr>
          <p:nvPr/>
        </p:nvPicPr>
        <p:blipFill>
          <a:blip r:embed="rId3"/>
          <a:stretch>
            <a:fillRect/>
          </a:stretch>
        </p:blipFill>
        <p:spPr>
          <a:xfrm>
            <a:off x="950244" y="4580412"/>
            <a:ext cx="275783" cy="275783"/>
          </a:xfrm>
          <a:prstGeom prst="rect">
            <a:avLst/>
          </a:prstGeom>
        </p:spPr>
      </p:pic>
      <p:sp>
        <p:nvSpPr>
          <p:cNvPr id="13" name="Text 8"/>
          <p:cNvSpPr/>
          <p:nvPr/>
        </p:nvSpPr>
        <p:spPr>
          <a:xfrm>
            <a:off x="1600200" y="4434840"/>
            <a:ext cx="5120640" cy="292608"/>
          </a:xfrm>
          <a:prstGeom prst="rect">
            <a:avLst/>
          </a:prstGeom>
          <a:noFill/>
          <a:ln/>
        </p:spPr>
        <p:txBody>
          <a:bodyPr wrap="square" lIns="0" tIns="0" rIns="0" bIns="0" rtlCol="0" anchor="ctr"/>
          <a:lstStyle/>
          <a:p>
            <a:pPr indent="0" marL="0">
              <a:buNone/>
            </a:pPr>
            <a:r>
              <a:rPr lang="en-US" sz="1650" b="1" dirty="0">
                <a:solidFill>
                  <a:srgbClr val="26282C"/>
                </a:solidFill>
                <a:latin typeface="Arial" pitchFamily="34" charset="0"/>
                <a:ea typeface="Arial" pitchFamily="34" charset="-122"/>
                <a:cs typeface="Arial" pitchFamily="34" charset="-120"/>
              </a:rPr>
              <a:t>Factual always escalates</a:t>
            </a:r>
            <a:endParaRPr lang="en-US" sz="1650" dirty="0"/>
          </a:p>
        </p:txBody>
      </p:sp>
      <p:sp>
        <p:nvSpPr>
          <p:cNvPr id="14" name="Text 9"/>
          <p:cNvSpPr/>
          <p:nvPr/>
        </p:nvSpPr>
        <p:spPr>
          <a:xfrm>
            <a:off x="1600200" y="4764024"/>
            <a:ext cx="5120640" cy="777240"/>
          </a:xfrm>
          <a:prstGeom prst="rect">
            <a:avLst/>
          </a:prstGeom>
          <a:noFill/>
          <a:ln/>
        </p:spPr>
        <p:txBody>
          <a:bodyPr wrap="square" lIns="0" tIns="0" rIns="0" bIns="0" rtlCol="0" anchor="t"/>
          <a:lstStyle/>
          <a:p>
            <a:pPr indent="0" marL="0">
              <a:lnSpc>
                <a:spcPct val="112000"/>
              </a:lnSpc>
              <a:buNone/>
            </a:pPr>
            <a:r>
              <a:rPr lang="en-US" sz="1300" dirty="0">
                <a:solidFill>
                  <a:srgbClr val="63686E"/>
                </a:solidFill>
                <a:latin typeface="Arial" pitchFamily="34" charset="0"/>
                <a:ea typeface="Arial" pitchFamily="34" charset="-122"/>
                <a:cs typeface="Arial" pitchFamily="34" charset="-120"/>
              </a:rPr>
              <a:t>Sample agreement can’t verify facts — and factual is the cheapest category to fix.</a:t>
            </a:r>
            <a:endParaRPr lang="en-US" sz="1300" dirty="0"/>
          </a:p>
        </p:txBody>
      </p:sp>
      <p:sp>
        <p:nvSpPr>
          <p:cNvPr id="15" name="Shape 10"/>
          <p:cNvSpPr/>
          <p:nvPr/>
        </p:nvSpPr>
        <p:spPr>
          <a:xfrm>
            <a:off x="7223760" y="1463040"/>
            <a:ext cx="4160520" cy="4343400"/>
          </a:xfrm>
          <a:prstGeom prst="roundRect">
            <a:avLst>
              <a:gd name="adj" fmla="val 2637"/>
            </a:avLst>
          </a:prstGeom>
          <a:solidFill>
            <a:srgbClr val="F6F7F8"/>
          </a:solidFill>
          <a:ln/>
          <a:effectLst>
            <a:outerShdw sx="100000" sy="100000" kx="0" ky="0" algn="bl" rotWithShape="0" blurRad="88900" dist="25400" dir="5400000">
              <a:srgbClr val="9AA0A6">
                <a:alpha val="30000"/>
              </a:srgbClr>
            </a:outerShdw>
          </a:effectLst>
        </p:spPr>
      </p:sp>
      <p:sp>
        <p:nvSpPr>
          <p:cNvPr id="16" name="Text 11"/>
          <p:cNvSpPr/>
          <p:nvPr/>
        </p:nvSpPr>
        <p:spPr>
          <a:xfrm>
            <a:off x="7543800" y="1755648"/>
            <a:ext cx="3520440" cy="274320"/>
          </a:xfrm>
          <a:prstGeom prst="rect">
            <a:avLst/>
          </a:prstGeom>
          <a:noFill/>
          <a:ln/>
        </p:spPr>
        <p:txBody>
          <a:bodyPr wrap="square" lIns="0" tIns="0" rIns="0" bIns="0" rtlCol="0" anchor="ctr"/>
          <a:lstStyle/>
          <a:p>
            <a:pPr indent="0" marL="0">
              <a:buNone/>
            </a:pPr>
            <a:r>
              <a:rPr lang="en-US" sz="1200" b="1" spc="300" kern="0" dirty="0">
                <a:solidFill>
                  <a:srgbClr val="63686E"/>
                </a:solidFill>
                <a:latin typeface="Arial" pitchFamily="34" charset="0"/>
                <a:ea typeface="Arial" pitchFamily="34" charset="-122"/>
                <a:cs typeface="Arial" pitchFamily="34" charset="-120"/>
              </a:rPr>
              <a:t>HARD GLOBAL BUDGET</a:t>
            </a:r>
            <a:endParaRPr lang="en-US" sz="1200" dirty="0"/>
          </a:p>
        </p:txBody>
      </p:sp>
      <p:sp>
        <p:nvSpPr>
          <p:cNvPr id="17" name="Text 12"/>
          <p:cNvSpPr/>
          <p:nvPr/>
        </p:nvSpPr>
        <p:spPr>
          <a:xfrm>
            <a:off x="7543800" y="2103120"/>
            <a:ext cx="3520440" cy="914400"/>
          </a:xfrm>
          <a:prstGeom prst="rect">
            <a:avLst/>
          </a:prstGeom>
          <a:noFill/>
          <a:ln/>
        </p:spPr>
        <p:txBody>
          <a:bodyPr wrap="square" lIns="0" tIns="0" rIns="0" bIns="0" rtlCol="0" anchor="ctr"/>
          <a:lstStyle/>
          <a:p>
            <a:pPr indent="0" marL="0">
              <a:buNone/>
            </a:pPr>
            <a:r>
              <a:rPr lang="en-US" sz="5800" b="1" dirty="0">
                <a:solidFill>
                  <a:srgbClr val="ED1C24"/>
                </a:solidFill>
                <a:latin typeface="Arial" pitchFamily="34" charset="0"/>
                <a:ea typeface="Arial" pitchFamily="34" charset="-122"/>
                <a:cs typeface="Arial" pitchFamily="34" charset="-120"/>
              </a:rPr>
              <a:t>900</a:t>
            </a:r>
            <a:pPr indent="0" marL="0">
              <a:buNone/>
            </a:pPr>
            <a:r>
              <a:rPr lang="en-US" sz="1600" dirty="0">
                <a:solidFill>
                  <a:srgbClr val="63686E"/>
                </a:solidFill>
                <a:latin typeface="Arial" pitchFamily="34" charset="0"/>
                <a:ea typeface="Arial" pitchFamily="34" charset="-122"/>
                <a:cs typeface="Arial" pitchFamily="34" charset="-120"/>
              </a:rPr>
              <a:t>  tokens</a:t>
            </a:r>
            <a:endParaRPr lang="en-US" sz="5800" dirty="0"/>
          </a:p>
        </p:txBody>
      </p:sp>
      <p:sp>
        <p:nvSpPr>
          <p:cNvPr id="18" name="Text 13"/>
          <p:cNvSpPr/>
          <p:nvPr/>
        </p:nvSpPr>
        <p:spPr>
          <a:xfrm>
            <a:off x="7543800" y="3063240"/>
            <a:ext cx="3520440" cy="274320"/>
          </a:xfrm>
          <a:prstGeom prst="rect">
            <a:avLst/>
          </a:prstGeom>
          <a:noFill/>
          <a:ln/>
        </p:spPr>
        <p:txBody>
          <a:bodyPr wrap="square" lIns="0" tIns="0" rIns="0" bIns="0" rtlCol="0" anchor="ctr"/>
          <a:lstStyle/>
          <a:p>
            <a:pPr indent="0" marL="0">
              <a:buNone/>
            </a:pPr>
            <a:r>
              <a:rPr lang="en-US" sz="1200" dirty="0">
                <a:solidFill>
                  <a:srgbClr val="63686E"/>
                </a:solidFill>
                <a:latin typeface="Arial" pitchFamily="34" charset="0"/>
                <a:ea typeface="Arial" pitchFamily="34" charset="-122"/>
                <a:cs typeface="Arial" pitchFamily="34" charset="-120"/>
              </a:rPr>
              <a:t>cap across the entire 19-task run</a:t>
            </a:r>
            <a:endParaRPr lang="en-US" sz="1200" dirty="0"/>
          </a:p>
        </p:txBody>
      </p:sp>
      <p:sp>
        <p:nvSpPr>
          <p:cNvPr id="19" name="Shape 14"/>
          <p:cNvSpPr/>
          <p:nvPr/>
        </p:nvSpPr>
        <p:spPr>
          <a:xfrm>
            <a:off x="7543800" y="3611880"/>
            <a:ext cx="3520440" cy="310896"/>
          </a:xfrm>
          <a:prstGeom prst="roundRect">
            <a:avLst>
              <a:gd name="adj" fmla="val 44118"/>
            </a:avLst>
          </a:prstGeom>
          <a:solidFill>
            <a:srgbClr val="E4E6E9"/>
          </a:solidFill>
          <a:ln/>
        </p:spPr>
      </p:sp>
      <p:sp>
        <p:nvSpPr>
          <p:cNvPr id="20" name="Shape 15"/>
          <p:cNvSpPr/>
          <p:nvPr/>
        </p:nvSpPr>
        <p:spPr>
          <a:xfrm>
            <a:off x="7543800" y="3611880"/>
            <a:ext cx="535889" cy="310896"/>
          </a:xfrm>
          <a:prstGeom prst="roundRect">
            <a:avLst>
              <a:gd name="adj" fmla="val 44118"/>
            </a:avLst>
          </a:prstGeom>
          <a:solidFill>
            <a:srgbClr val="ED1C24"/>
          </a:solidFill>
          <a:ln/>
        </p:spPr>
      </p:sp>
      <p:sp>
        <p:nvSpPr>
          <p:cNvPr id="21" name="Text 16"/>
          <p:cNvSpPr/>
          <p:nvPr/>
        </p:nvSpPr>
        <p:spPr>
          <a:xfrm>
            <a:off x="7543800" y="4014216"/>
            <a:ext cx="3520440" cy="256032"/>
          </a:xfrm>
          <a:prstGeom prst="rect">
            <a:avLst/>
          </a:prstGeom>
          <a:noFill/>
          <a:ln/>
        </p:spPr>
        <p:txBody>
          <a:bodyPr wrap="square" lIns="0" tIns="0" rIns="0" bIns="0" rtlCol="0" anchor="ctr"/>
          <a:lstStyle/>
          <a:p>
            <a:pPr indent="0" marL="0">
              <a:buNone/>
            </a:pPr>
            <a:r>
              <a:rPr lang="en-US" sz="1050" dirty="0">
                <a:solidFill>
                  <a:srgbClr val="63686E"/>
                </a:solidFill>
                <a:latin typeface="Arial" pitchFamily="34" charset="0"/>
                <a:ea typeface="Arial" pitchFamily="34" charset="-122"/>
                <a:cs typeface="Arial" pitchFamily="34" charset="-120"/>
              </a:rPr>
              <a:t>one escalated task ≈ 110–320 tokens</a:t>
            </a:r>
            <a:endParaRPr lang="en-US" sz="1050" dirty="0"/>
          </a:p>
        </p:txBody>
      </p:sp>
      <p:sp>
        <p:nvSpPr>
          <p:cNvPr id="22" name="Shape 17"/>
          <p:cNvSpPr/>
          <p:nvPr/>
        </p:nvSpPr>
        <p:spPr>
          <a:xfrm>
            <a:off x="7543800" y="4709160"/>
            <a:ext cx="3520440" cy="0"/>
          </a:xfrm>
          <a:prstGeom prst="line">
            <a:avLst/>
          </a:prstGeom>
          <a:noFill/>
          <a:ln w="12700">
            <a:solidFill>
              <a:srgbClr val="D5D8DC"/>
            </a:solidFill>
            <a:prstDash val="solid"/>
          </a:ln>
        </p:spPr>
      </p:sp>
      <p:sp>
        <p:nvSpPr>
          <p:cNvPr id="23" name="Text 18"/>
          <p:cNvSpPr/>
          <p:nvPr/>
        </p:nvSpPr>
        <p:spPr>
          <a:xfrm>
            <a:off x="7543800" y="4892040"/>
            <a:ext cx="3520440" cy="731520"/>
          </a:xfrm>
          <a:prstGeom prst="rect">
            <a:avLst/>
          </a:prstGeom>
          <a:noFill/>
          <a:ln/>
        </p:spPr>
        <p:txBody>
          <a:bodyPr wrap="square" lIns="0" tIns="0" rIns="0" bIns="0" rtlCol="0" anchor="ctr"/>
          <a:lstStyle/>
          <a:p>
            <a:pPr indent="0" marL="0">
              <a:lnSpc>
                <a:spcPct val="125000"/>
              </a:lnSpc>
              <a:buNone/>
            </a:pPr>
            <a:r>
              <a:rPr lang="en-US" sz="1150" b="1" dirty="0">
                <a:solidFill>
                  <a:srgbClr val="26282C"/>
                </a:solidFill>
                <a:latin typeface="Courier New" pitchFamily="34" charset="0"/>
                <a:ea typeface="Courier New" pitchFamily="34" charset="-122"/>
                <a:cs typeface="Courier New" pitchFamily="34" charset="-120"/>
              </a:rPr>
              <a:t>ESCALATION_BUDGET_TOKENS = 0</a:t>
            </a:r>
            <a:pPr indent="0" marL="0">
              <a:lnSpc>
                <a:spcPct val="125000"/>
              </a:lnSpc>
              <a:buNone/>
            </a:pPr>
            <a:endParaRPr lang="en-US" sz="1150" dirty="0"/>
          </a:p>
          <a:p>
            <a:pPr indent="0" marL="0">
              <a:lnSpc>
                <a:spcPct val="125000"/>
              </a:lnSpc>
              <a:buNone/>
            </a:pPr>
            <a:r>
              <a:rPr lang="en-US" sz="1200" dirty="0">
                <a:solidFill>
                  <a:srgbClr val="63686E"/>
                </a:solidFill>
                <a:latin typeface="Arial" pitchFamily="34" charset="0"/>
                <a:ea typeface="Arial" pitchFamily="34" charset="-122"/>
                <a:cs typeface="Arial" pitchFamily="34" charset="-120"/>
              </a:rPr>
              <a:t>→ fully local. Zero API calls, still finishes every task.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indent="0" marL="0">
              <a:buNone/>
            </a:pPr>
            <a:r>
              <a:rPr lang="en-US" sz="3400" b="1" dirty="0">
                <a:solidFill>
                  <a:srgbClr val="26282C"/>
                </a:solidFill>
                <a:latin typeface="Arial" pitchFamily="34" charset="0"/>
                <a:ea typeface="Arial" pitchFamily="34" charset="-122"/>
                <a:cs typeface="Arial" pitchFamily="34" charset="-120"/>
              </a:rPr>
              <a:t>Engineering for a hostile clock</a:t>
            </a:r>
            <a:endParaRPr lang="en-US" sz="3400" dirty="0"/>
          </a:p>
        </p:txBody>
      </p:sp>
      <p:sp>
        <p:nvSpPr>
          <p:cNvPr id="3" name="Shape 1"/>
          <p:cNvSpPr/>
          <p:nvPr/>
        </p:nvSpPr>
        <p:spPr>
          <a:xfrm>
            <a:off x="868680" y="2651760"/>
            <a:ext cx="10378440" cy="0"/>
          </a:xfrm>
          <a:prstGeom prst="line">
            <a:avLst/>
          </a:prstGeom>
          <a:noFill/>
          <a:ln w="31750">
            <a:solidFill>
              <a:srgbClr val="D5D8DC"/>
            </a:solidFill>
            <a:prstDash val="solid"/>
          </a:ln>
        </p:spPr>
      </p:sp>
      <p:sp>
        <p:nvSpPr>
          <p:cNvPr id="4" name="Shape 2"/>
          <p:cNvSpPr/>
          <p:nvPr/>
        </p:nvSpPr>
        <p:spPr>
          <a:xfrm>
            <a:off x="868680" y="2651760"/>
            <a:ext cx="4012997" cy="0"/>
          </a:xfrm>
          <a:prstGeom prst="line">
            <a:avLst/>
          </a:prstGeom>
          <a:noFill/>
          <a:ln w="31750">
            <a:solidFill>
              <a:srgbClr val="ED1C24"/>
            </a:solidFill>
            <a:prstDash val="solid"/>
          </a:ln>
        </p:spPr>
      </p:sp>
      <p:sp>
        <p:nvSpPr>
          <p:cNvPr id="5" name="Shape 3"/>
          <p:cNvSpPr/>
          <p:nvPr/>
        </p:nvSpPr>
        <p:spPr>
          <a:xfrm>
            <a:off x="800100" y="2583180"/>
            <a:ext cx="137160" cy="137160"/>
          </a:xfrm>
          <a:prstGeom prst="ellipse">
            <a:avLst/>
          </a:prstGeom>
          <a:solidFill>
            <a:srgbClr val="26282C"/>
          </a:solidFill>
          <a:ln w="19050">
            <a:solidFill>
              <a:srgbClr val="FFFFFF"/>
            </a:solidFill>
            <a:prstDash val="solid"/>
          </a:ln>
        </p:spPr>
      </p:sp>
      <p:sp>
        <p:nvSpPr>
          <p:cNvPr id="6" name="Text 4"/>
          <p:cNvSpPr/>
          <p:nvPr/>
        </p:nvSpPr>
        <p:spPr>
          <a:xfrm>
            <a:off x="822960" y="2852928"/>
            <a:ext cx="1828800" cy="512064"/>
          </a:xfrm>
          <a:prstGeom prst="rect">
            <a:avLst/>
          </a:prstGeom>
          <a:noFill/>
          <a:ln/>
        </p:spPr>
        <p:txBody>
          <a:bodyPr wrap="square" lIns="0" tIns="0" rIns="0" bIns="0" rtlCol="0" anchor="ctr"/>
          <a:lstStyle/>
          <a:p>
            <a:pPr algn="l" indent="0" marL="0">
              <a:lnSpc>
                <a:spcPct val="105000"/>
              </a:lnSpc>
              <a:buNone/>
            </a:pPr>
            <a:r>
              <a:rPr lang="en-US" sz="1150" b="1" dirty="0">
                <a:solidFill>
                  <a:srgbClr val="26282C"/>
                </a:solidFill>
                <a:latin typeface="Arial" pitchFamily="34" charset="0"/>
                <a:ea typeface="Arial" pitchFamily="34" charset="-122"/>
                <a:cs typeface="Arial" pitchFamily="34" charset="-120"/>
              </a:rPr>
              <a:t>0:00
</a:t>
            </a:r>
            <a:pPr algn="l" indent="0" marL="0">
              <a:lnSpc>
                <a:spcPct val="105000"/>
              </a:lnSpc>
              <a:buNone/>
            </a:pPr>
            <a:r>
              <a:rPr lang="en-US" sz="1000" dirty="0">
                <a:solidFill>
                  <a:srgbClr val="63686E"/>
                </a:solidFill>
                <a:latin typeface="Arial" pitchFamily="34" charset="0"/>
                <a:ea typeface="Arial" pitchFamily="34" charset="-122"/>
                <a:cs typeface="Arial" pitchFamily="34" charset="-120"/>
              </a:rPr>
              <a:t>tok/s probe · governor set</a:t>
            </a:r>
            <a:endParaRPr lang="en-US" sz="1150" dirty="0"/>
          </a:p>
        </p:txBody>
      </p:sp>
      <p:sp>
        <p:nvSpPr>
          <p:cNvPr id="7" name="Shape 5"/>
          <p:cNvSpPr/>
          <p:nvPr/>
        </p:nvSpPr>
        <p:spPr>
          <a:xfrm>
            <a:off x="4813097" y="2583180"/>
            <a:ext cx="137160" cy="137160"/>
          </a:xfrm>
          <a:prstGeom prst="ellipse">
            <a:avLst/>
          </a:prstGeom>
          <a:solidFill>
            <a:srgbClr val="ED1C24"/>
          </a:solidFill>
          <a:ln w="19050">
            <a:solidFill>
              <a:srgbClr val="FFFFFF"/>
            </a:solidFill>
            <a:prstDash val="solid"/>
          </a:ln>
        </p:spPr>
      </p:sp>
      <p:sp>
        <p:nvSpPr>
          <p:cNvPr id="8" name="Text 6"/>
          <p:cNvSpPr/>
          <p:nvPr/>
        </p:nvSpPr>
        <p:spPr>
          <a:xfrm>
            <a:off x="3875837" y="1938528"/>
            <a:ext cx="201168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ED1C24"/>
                </a:solidFill>
                <a:latin typeface="Arial" pitchFamily="34" charset="0"/>
                <a:ea typeface="Arial" pitchFamily="34" charset="-122"/>
                <a:cs typeface="Arial" pitchFamily="34" charset="-120"/>
              </a:rPr>
              <a:t>3:52
</a:t>
            </a:r>
            <a:pPr algn="ctr" indent="0" marL="0">
              <a:lnSpc>
                <a:spcPct val="105000"/>
              </a:lnSpc>
              <a:buNone/>
            </a:pPr>
            <a:r>
              <a:rPr lang="en-US" sz="1000" dirty="0">
                <a:solidFill>
                  <a:srgbClr val="63686E"/>
                </a:solidFill>
                <a:latin typeface="Arial" pitchFamily="34" charset="0"/>
                <a:ea typeface="Arial" pitchFamily="34" charset="-122"/>
                <a:cs typeface="Arial" pitchFamily="34" charset="-120"/>
              </a:rPr>
              <a:t>all 19 tasks done (measured)</a:t>
            </a:r>
            <a:endParaRPr lang="en-US" sz="1150" dirty="0"/>
          </a:p>
        </p:txBody>
      </p:sp>
      <p:sp>
        <p:nvSpPr>
          <p:cNvPr id="9" name="Shape 7"/>
          <p:cNvSpPr/>
          <p:nvPr/>
        </p:nvSpPr>
        <p:spPr>
          <a:xfrm>
            <a:off x="8497443" y="2583180"/>
            <a:ext cx="137160" cy="137160"/>
          </a:xfrm>
          <a:prstGeom prst="ellipse">
            <a:avLst/>
          </a:prstGeom>
          <a:solidFill>
            <a:srgbClr val="26282C"/>
          </a:solidFill>
          <a:ln w="19050">
            <a:solidFill>
              <a:srgbClr val="FFFFFF"/>
            </a:solidFill>
            <a:prstDash val="solid"/>
          </a:ln>
        </p:spPr>
      </p:sp>
      <p:sp>
        <p:nvSpPr>
          <p:cNvPr id="10" name="Text 8"/>
          <p:cNvSpPr/>
          <p:nvPr/>
        </p:nvSpPr>
        <p:spPr>
          <a:xfrm>
            <a:off x="7743063" y="1938528"/>
            <a:ext cx="16459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26282C"/>
                </a:solidFill>
                <a:latin typeface="Arial" pitchFamily="34" charset="0"/>
                <a:ea typeface="Arial" pitchFamily="34" charset="-122"/>
                <a:cs typeface="Arial" pitchFamily="34" charset="-120"/>
              </a:rPr>
              <a:t>7:25
</a:t>
            </a:r>
            <a:pPr algn="ctr" indent="0" marL="0">
              <a:lnSpc>
                <a:spcPct val="105000"/>
              </a:lnSpc>
              <a:buNone/>
            </a:pPr>
            <a:r>
              <a:rPr lang="en-US" sz="1000" dirty="0">
                <a:solidFill>
                  <a:srgbClr val="63686E"/>
                </a:solidFill>
                <a:latin typeface="Arial" pitchFamily="34" charset="0"/>
                <a:ea typeface="Arial" pitchFamily="34" charset="-122"/>
                <a:cs typeface="Arial" pitchFamily="34" charset="-120"/>
              </a:rPr>
              <a:t>soft stop — no new work</a:t>
            </a:r>
            <a:endParaRPr lang="en-US" sz="1150" dirty="0"/>
          </a:p>
        </p:txBody>
      </p:sp>
      <p:sp>
        <p:nvSpPr>
          <p:cNvPr id="11" name="Shape 9"/>
          <p:cNvSpPr/>
          <p:nvPr/>
        </p:nvSpPr>
        <p:spPr>
          <a:xfrm>
            <a:off x="9535287" y="2583180"/>
            <a:ext cx="137160" cy="137160"/>
          </a:xfrm>
          <a:prstGeom prst="ellipse">
            <a:avLst/>
          </a:prstGeom>
          <a:solidFill>
            <a:srgbClr val="26282C"/>
          </a:solidFill>
          <a:ln w="19050">
            <a:solidFill>
              <a:srgbClr val="FFFFFF"/>
            </a:solidFill>
            <a:prstDash val="solid"/>
          </a:ln>
        </p:spPr>
      </p:sp>
      <p:sp>
        <p:nvSpPr>
          <p:cNvPr id="12" name="Text 10"/>
          <p:cNvSpPr/>
          <p:nvPr/>
        </p:nvSpPr>
        <p:spPr>
          <a:xfrm>
            <a:off x="9009507" y="2852928"/>
            <a:ext cx="11887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26282C"/>
                </a:solidFill>
                <a:latin typeface="Arial" pitchFamily="34" charset="0"/>
                <a:ea typeface="Arial" pitchFamily="34" charset="-122"/>
                <a:cs typeface="Arial" pitchFamily="34" charset="-120"/>
              </a:rPr>
              <a:t>8:25
</a:t>
            </a:r>
            <a:pPr algn="ctr" indent="0" marL="0">
              <a:lnSpc>
                <a:spcPct val="105000"/>
              </a:lnSpc>
              <a:buNone/>
            </a:pPr>
            <a:r>
              <a:rPr lang="en-US" sz="1000" dirty="0">
                <a:solidFill>
                  <a:srgbClr val="63686E"/>
                </a:solidFill>
                <a:latin typeface="Arial" pitchFamily="34" charset="0"/>
                <a:ea typeface="Arial" pitchFamily="34" charset="-122"/>
                <a:cs typeface="Arial" pitchFamily="34" charset="-120"/>
              </a:rPr>
              <a:t>watchdog flush</a:t>
            </a:r>
            <a:endParaRPr lang="en-US" sz="1150" dirty="0"/>
          </a:p>
        </p:txBody>
      </p:sp>
      <p:sp>
        <p:nvSpPr>
          <p:cNvPr id="13" name="Shape 11"/>
          <p:cNvSpPr/>
          <p:nvPr/>
        </p:nvSpPr>
        <p:spPr>
          <a:xfrm>
            <a:off x="10054209" y="2583180"/>
            <a:ext cx="137160" cy="137160"/>
          </a:xfrm>
          <a:prstGeom prst="ellipse">
            <a:avLst/>
          </a:prstGeom>
          <a:solidFill>
            <a:srgbClr val="26282C"/>
          </a:solidFill>
          <a:ln w="19050">
            <a:solidFill>
              <a:srgbClr val="FFFFFF"/>
            </a:solidFill>
            <a:prstDash val="solid"/>
          </a:ln>
        </p:spPr>
      </p:sp>
      <p:sp>
        <p:nvSpPr>
          <p:cNvPr id="14" name="Text 12"/>
          <p:cNvSpPr/>
          <p:nvPr/>
        </p:nvSpPr>
        <p:spPr>
          <a:xfrm>
            <a:off x="9619869" y="1938528"/>
            <a:ext cx="100584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26282C"/>
                </a:solidFill>
                <a:latin typeface="Arial" pitchFamily="34" charset="0"/>
                <a:ea typeface="Arial" pitchFamily="34" charset="-122"/>
                <a:cs typeface="Arial" pitchFamily="34" charset="-120"/>
              </a:rPr>
              <a:t>8:55
</a:t>
            </a:r>
            <a:pPr algn="ctr" indent="0" marL="0">
              <a:lnSpc>
                <a:spcPct val="105000"/>
              </a:lnSpc>
              <a:buNone/>
            </a:pPr>
            <a:r>
              <a:rPr lang="en-US" sz="1000" dirty="0">
                <a:solidFill>
                  <a:srgbClr val="63686E"/>
                </a:solidFill>
                <a:latin typeface="Arial" pitchFamily="34" charset="0"/>
                <a:ea typeface="Arial" pitchFamily="34" charset="-122"/>
                <a:cs typeface="Arial" pitchFamily="34" charset="-120"/>
              </a:rPr>
              <a:t>hard exit</a:t>
            </a:r>
            <a:endParaRPr lang="en-US" sz="1150" dirty="0"/>
          </a:p>
        </p:txBody>
      </p:sp>
      <p:sp>
        <p:nvSpPr>
          <p:cNvPr id="15" name="Shape 13"/>
          <p:cNvSpPr/>
          <p:nvPr/>
        </p:nvSpPr>
        <p:spPr>
          <a:xfrm>
            <a:off x="11178540" y="2583180"/>
            <a:ext cx="137160" cy="137160"/>
          </a:xfrm>
          <a:prstGeom prst="ellipse">
            <a:avLst/>
          </a:prstGeom>
          <a:solidFill>
            <a:srgbClr val="9AA0A6"/>
          </a:solidFill>
          <a:ln w="19050">
            <a:solidFill>
              <a:srgbClr val="FFFFFF"/>
            </a:solidFill>
            <a:prstDash val="solid"/>
          </a:ln>
        </p:spPr>
      </p:sp>
      <p:sp>
        <p:nvSpPr>
          <p:cNvPr id="16" name="Text 14"/>
          <p:cNvSpPr/>
          <p:nvPr/>
        </p:nvSpPr>
        <p:spPr>
          <a:xfrm>
            <a:off x="10058400" y="2852928"/>
            <a:ext cx="1234440" cy="512064"/>
          </a:xfrm>
          <a:prstGeom prst="rect">
            <a:avLst/>
          </a:prstGeom>
          <a:noFill/>
          <a:ln/>
        </p:spPr>
        <p:txBody>
          <a:bodyPr wrap="square" lIns="0" tIns="0" rIns="0" bIns="0" rtlCol="0" anchor="ctr"/>
          <a:lstStyle/>
          <a:p>
            <a:pPr algn="r" indent="0" marL="0">
              <a:lnSpc>
                <a:spcPct val="105000"/>
              </a:lnSpc>
              <a:buNone/>
            </a:pPr>
            <a:r>
              <a:rPr lang="en-US" sz="1150" b="1" dirty="0">
                <a:solidFill>
                  <a:srgbClr val="9AA0A6"/>
                </a:solidFill>
                <a:latin typeface="Arial" pitchFamily="34" charset="0"/>
                <a:ea typeface="Arial" pitchFamily="34" charset="-122"/>
                <a:cs typeface="Arial" pitchFamily="34" charset="-120"/>
              </a:rPr>
              <a:t>10:00
</a:t>
            </a:r>
            <a:pPr algn="r" indent="0" marL="0">
              <a:lnSpc>
                <a:spcPct val="105000"/>
              </a:lnSpc>
              <a:buNone/>
            </a:pPr>
            <a:r>
              <a:rPr lang="en-US" sz="1000" dirty="0">
                <a:solidFill>
                  <a:srgbClr val="63686E"/>
                </a:solidFill>
                <a:latin typeface="Arial" pitchFamily="34" charset="0"/>
                <a:ea typeface="Arial" pitchFamily="34" charset="-122"/>
                <a:cs typeface="Arial" pitchFamily="34" charset="-120"/>
              </a:rPr>
              <a:t>harness limit</a:t>
            </a:r>
            <a:endParaRPr lang="en-US" sz="1150" dirty="0"/>
          </a:p>
        </p:txBody>
      </p:sp>
      <p:sp>
        <p:nvSpPr>
          <p:cNvPr id="17" name="Shape 15"/>
          <p:cNvSpPr/>
          <p:nvPr/>
        </p:nvSpPr>
        <p:spPr>
          <a:xfrm>
            <a:off x="822960" y="4114800"/>
            <a:ext cx="3328416" cy="1874520"/>
          </a:xfrm>
          <a:prstGeom prst="roundRect">
            <a:avLst>
              <a:gd name="adj" fmla="val 4878"/>
            </a:avLst>
          </a:prstGeom>
          <a:solidFill>
            <a:srgbClr val="F6F7F8"/>
          </a:solidFill>
          <a:ln/>
        </p:spPr>
      </p:sp>
      <p:sp>
        <p:nvSpPr>
          <p:cNvPr id="18" name="Shape 16"/>
          <p:cNvSpPr/>
          <p:nvPr/>
        </p:nvSpPr>
        <p:spPr>
          <a:xfrm>
            <a:off x="1060704" y="4352544"/>
            <a:ext cx="420624" cy="420624"/>
          </a:xfrm>
          <a:prstGeom prst="ellipse">
            <a:avLst/>
          </a:prstGeom>
          <a:solidFill>
            <a:srgbClr val="FDEBEC"/>
          </a:solidFill>
          <a:ln/>
        </p:spPr>
      </p:sp>
      <p:pic>
        <p:nvPicPr>
          <p:cNvPr id="19" name="Image 0" descr="preencoded.png">    </p:cNvPr>
          <p:cNvPicPr>
            <a:picLocks noChangeAspect="1"/>
          </p:cNvPicPr>
          <p:nvPr/>
        </p:nvPicPr>
        <p:blipFill>
          <a:blip r:embed="rId1"/>
          <a:stretch>
            <a:fillRect/>
          </a:stretch>
        </p:blipFill>
        <p:spPr>
          <a:xfrm>
            <a:off x="1161654" y="4453494"/>
            <a:ext cx="218724" cy="218724"/>
          </a:xfrm>
          <a:prstGeom prst="rect">
            <a:avLst/>
          </a:prstGeom>
        </p:spPr>
      </p:pic>
      <p:sp>
        <p:nvSpPr>
          <p:cNvPr id="20" name="Text 17"/>
          <p:cNvSpPr/>
          <p:nvPr/>
        </p:nvSpPr>
        <p:spPr>
          <a:xfrm>
            <a:off x="1627632" y="4398264"/>
            <a:ext cx="2322576" cy="274320"/>
          </a:xfrm>
          <a:prstGeom prst="rect">
            <a:avLst/>
          </a:prstGeom>
          <a:noFill/>
          <a:ln/>
        </p:spPr>
        <p:txBody>
          <a:bodyPr wrap="square" lIns="0" tIns="0" rIns="0" bIns="0" rtlCol="0" anchor="ctr"/>
          <a:lstStyle/>
          <a:p>
            <a:pPr indent="0" marL="0">
              <a:buNone/>
            </a:pPr>
            <a:r>
              <a:rPr lang="en-US" sz="1450" b="1" dirty="0">
                <a:solidFill>
                  <a:srgbClr val="26282C"/>
                </a:solidFill>
                <a:latin typeface="Arial" pitchFamily="34" charset="0"/>
                <a:ea typeface="Arial" pitchFamily="34" charset="-122"/>
                <a:cs typeface="Arial" pitchFamily="34" charset="-120"/>
              </a:rPr>
              <a:t>Speed governor</a:t>
            </a:r>
            <a:endParaRPr lang="en-US" sz="1450" dirty="0"/>
          </a:p>
        </p:txBody>
      </p:sp>
      <p:sp>
        <p:nvSpPr>
          <p:cNvPr id="21" name="Text 18"/>
          <p:cNvSpPr/>
          <p:nvPr/>
        </p:nvSpPr>
        <p:spPr>
          <a:xfrm>
            <a:off x="1060704" y="4892040"/>
            <a:ext cx="2852928" cy="960120"/>
          </a:xfrm>
          <a:prstGeom prst="rect">
            <a:avLst/>
          </a:prstGeom>
          <a:noFill/>
          <a:ln/>
        </p:spPr>
        <p:txBody>
          <a:bodyPr wrap="square" lIns="0" tIns="0" rIns="0" bIns="0" rtlCol="0" anchor="t"/>
          <a:lstStyle/>
          <a:p>
            <a:pPr indent="0" marL="0">
              <a:lnSpc>
                <a:spcPct val="115000"/>
              </a:lnSpc>
              <a:buNone/>
            </a:pPr>
            <a:r>
              <a:rPr lang="en-US" sz="1150" dirty="0">
                <a:solidFill>
                  <a:srgbClr val="63686E"/>
                </a:solidFill>
                <a:latin typeface="Arial" pitchFamily="34" charset="0"/>
                <a:ea typeface="Arial" pitchFamily="34" charset="-122"/>
                <a:cs typeface="Arial" pitchFamily="34" charset="-120"/>
              </a:rPr>
              <a:t>A startup probe measures real tok/s and sets sampling depth: full → lean → panic. Slow CPUs degrade gracefully, never fatally.</a:t>
            </a:r>
            <a:endParaRPr lang="en-US" sz="1150" dirty="0"/>
          </a:p>
        </p:txBody>
      </p:sp>
      <p:sp>
        <p:nvSpPr>
          <p:cNvPr id="22" name="Shape 19"/>
          <p:cNvSpPr/>
          <p:nvPr/>
        </p:nvSpPr>
        <p:spPr>
          <a:xfrm>
            <a:off x="4425696" y="4114800"/>
            <a:ext cx="3328416" cy="1874520"/>
          </a:xfrm>
          <a:prstGeom prst="roundRect">
            <a:avLst>
              <a:gd name="adj" fmla="val 4878"/>
            </a:avLst>
          </a:prstGeom>
          <a:solidFill>
            <a:srgbClr val="F6F7F8"/>
          </a:solidFill>
          <a:ln/>
        </p:spPr>
      </p:sp>
      <p:sp>
        <p:nvSpPr>
          <p:cNvPr id="23" name="Shape 20"/>
          <p:cNvSpPr/>
          <p:nvPr/>
        </p:nvSpPr>
        <p:spPr>
          <a:xfrm>
            <a:off x="4663440" y="4352544"/>
            <a:ext cx="420624" cy="420624"/>
          </a:xfrm>
          <a:prstGeom prst="ellipse">
            <a:avLst/>
          </a:prstGeom>
          <a:solidFill>
            <a:srgbClr val="FDEBEC"/>
          </a:solidFill>
          <a:ln/>
        </p:spPr>
      </p:sp>
      <p:pic>
        <p:nvPicPr>
          <p:cNvPr id="24" name="Image 1" descr="preencoded.png">    </p:cNvPr>
          <p:cNvPicPr>
            <a:picLocks noChangeAspect="1"/>
          </p:cNvPicPr>
          <p:nvPr/>
        </p:nvPicPr>
        <p:blipFill>
          <a:blip r:embed="rId2"/>
          <a:stretch>
            <a:fillRect/>
          </a:stretch>
        </p:blipFill>
        <p:spPr>
          <a:xfrm>
            <a:off x="4764390" y="4453494"/>
            <a:ext cx="218724" cy="218724"/>
          </a:xfrm>
          <a:prstGeom prst="rect">
            <a:avLst/>
          </a:prstGeom>
        </p:spPr>
      </p:pic>
      <p:sp>
        <p:nvSpPr>
          <p:cNvPr id="25" name="Text 21"/>
          <p:cNvSpPr/>
          <p:nvPr/>
        </p:nvSpPr>
        <p:spPr>
          <a:xfrm>
            <a:off x="5230368" y="4398264"/>
            <a:ext cx="2322576" cy="274320"/>
          </a:xfrm>
          <a:prstGeom prst="rect">
            <a:avLst/>
          </a:prstGeom>
          <a:noFill/>
          <a:ln/>
        </p:spPr>
        <p:txBody>
          <a:bodyPr wrap="square" lIns="0" tIns="0" rIns="0" bIns="0" rtlCol="0" anchor="ctr"/>
          <a:lstStyle/>
          <a:p>
            <a:pPr indent="0" marL="0">
              <a:buNone/>
            </a:pPr>
            <a:r>
              <a:rPr lang="en-US" sz="1450" b="1" dirty="0">
                <a:solidFill>
                  <a:srgbClr val="26282C"/>
                </a:solidFill>
                <a:latin typeface="Arial" pitchFamily="34" charset="0"/>
                <a:ea typeface="Arial" pitchFamily="34" charset="-122"/>
                <a:cs typeface="Arial" pitchFamily="34" charset="-120"/>
              </a:rPr>
              <a:t>Atomic output</a:t>
            </a:r>
            <a:endParaRPr lang="en-US" sz="1450" dirty="0"/>
          </a:p>
        </p:txBody>
      </p:sp>
      <p:sp>
        <p:nvSpPr>
          <p:cNvPr id="26" name="Text 22"/>
          <p:cNvSpPr/>
          <p:nvPr/>
        </p:nvSpPr>
        <p:spPr>
          <a:xfrm>
            <a:off x="4663440" y="4892040"/>
            <a:ext cx="2852928" cy="960120"/>
          </a:xfrm>
          <a:prstGeom prst="rect">
            <a:avLst/>
          </a:prstGeom>
          <a:noFill/>
          <a:ln/>
        </p:spPr>
        <p:txBody>
          <a:bodyPr wrap="square" lIns="0" tIns="0" rIns="0" bIns="0" rtlCol="0" anchor="t"/>
          <a:lstStyle/>
          <a:p>
            <a:pPr indent="0" marL="0">
              <a:lnSpc>
                <a:spcPct val="115000"/>
              </a:lnSpc>
              <a:buNone/>
            </a:pPr>
            <a:r>
              <a:rPr lang="en-US" sz="1150" dirty="0">
                <a:solidFill>
                  <a:srgbClr val="63686E"/>
                </a:solidFill>
                <a:latin typeface="Arial" pitchFamily="34" charset="0"/>
                <a:ea typeface="Arial" pitchFamily="34" charset="-122"/>
                <a:cs typeface="Arial" pitchFamily="34" charset="-120"/>
              </a:rPr>
              <a:t>results.json is valid JSON after every single task, and each task runs in its own exception boundary.</a:t>
            </a:r>
            <a:endParaRPr lang="en-US" sz="1150" dirty="0"/>
          </a:p>
        </p:txBody>
      </p:sp>
      <p:sp>
        <p:nvSpPr>
          <p:cNvPr id="27" name="Shape 23"/>
          <p:cNvSpPr/>
          <p:nvPr/>
        </p:nvSpPr>
        <p:spPr>
          <a:xfrm>
            <a:off x="8028432" y="4114800"/>
            <a:ext cx="3328416" cy="1874520"/>
          </a:xfrm>
          <a:prstGeom prst="roundRect">
            <a:avLst>
              <a:gd name="adj" fmla="val 4878"/>
            </a:avLst>
          </a:prstGeom>
          <a:solidFill>
            <a:srgbClr val="F6F7F8"/>
          </a:solidFill>
          <a:ln/>
        </p:spPr>
      </p:sp>
      <p:sp>
        <p:nvSpPr>
          <p:cNvPr id="28" name="Shape 24"/>
          <p:cNvSpPr/>
          <p:nvPr/>
        </p:nvSpPr>
        <p:spPr>
          <a:xfrm>
            <a:off x="8266176" y="4352544"/>
            <a:ext cx="420624" cy="420624"/>
          </a:xfrm>
          <a:prstGeom prst="ellipse">
            <a:avLst/>
          </a:prstGeom>
          <a:solidFill>
            <a:srgbClr val="FDEBEC"/>
          </a:solidFill>
          <a:ln/>
        </p:spPr>
      </p:sp>
      <p:pic>
        <p:nvPicPr>
          <p:cNvPr id="29" name="Image 2" descr="preencoded.png">    </p:cNvPr>
          <p:cNvPicPr>
            <a:picLocks noChangeAspect="1"/>
          </p:cNvPicPr>
          <p:nvPr/>
        </p:nvPicPr>
        <p:blipFill>
          <a:blip r:embed="rId3"/>
          <a:stretch>
            <a:fillRect/>
          </a:stretch>
        </p:blipFill>
        <p:spPr>
          <a:xfrm>
            <a:off x="8367126" y="4453494"/>
            <a:ext cx="218724" cy="218724"/>
          </a:xfrm>
          <a:prstGeom prst="rect">
            <a:avLst/>
          </a:prstGeom>
        </p:spPr>
      </p:pic>
      <p:sp>
        <p:nvSpPr>
          <p:cNvPr id="30" name="Text 25"/>
          <p:cNvSpPr/>
          <p:nvPr/>
        </p:nvSpPr>
        <p:spPr>
          <a:xfrm>
            <a:off x="8833104" y="4398264"/>
            <a:ext cx="2322576" cy="274320"/>
          </a:xfrm>
          <a:prstGeom prst="rect">
            <a:avLst/>
          </a:prstGeom>
          <a:noFill/>
          <a:ln/>
        </p:spPr>
        <p:txBody>
          <a:bodyPr wrap="square" lIns="0" tIns="0" rIns="0" bIns="0" rtlCol="0" anchor="ctr"/>
          <a:lstStyle/>
          <a:p>
            <a:pPr indent="0" marL="0">
              <a:buNone/>
            </a:pPr>
            <a:r>
              <a:rPr lang="en-US" sz="1450" b="1" dirty="0">
                <a:solidFill>
                  <a:srgbClr val="26282C"/>
                </a:solidFill>
                <a:latin typeface="Arial" pitchFamily="34" charset="0"/>
                <a:ea typeface="Arial" pitchFamily="34" charset="-122"/>
                <a:cs typeface="Arial" pitchFamily="34" charset="-120"/>
              </a:rPr>
              <a:t>Guaranteed clean exit</a:t>
            </a:r>
            <a:endParaRPr lang="en-US" sz="1450" dirty="0"/>
          </a:p>
        </p:txBody>
      </p:sp>
      <p:sp>
        <p:nvSpPr>
          <p:cNvPr id="31" name="Text 26"/>
          <p:cNvSpPr/>
          <p:nvPr/>
        </p:nvSpPr>
        <p:spPr>
          <a:xfrm>
            <a:off x="8266176" y="4892040"/>
            <a:ext cx="2852928" cy="960120"/>
          </a:xfrm>
          <a:prstGeom prst="rect">
            <a:avLst/>
          </a:prstGeom>
          <a:noFill/>
          <a:ln/>
        </p:spPr>
        <p:txBody>
          <a:bodyPr wrap="square" lIns="0" tIns="0" rIns="0" bIns="0" rtlCol="0" anchor="t"/>
          <a:lstStyle/>
          <a:p>
            <a:pPr indent="0" marL="0">
              <a:lnSpc>
                <a:spcPct val="115000"/>
              </a:lnSpc>
              <a:buNone/>
            </a:pPr>
            <a:r>
              <a:rPr lang="en-US" sz="1150" dirty="0">
                <a:solidFill>
                  <a:srgbClr val="63686E"/>
                </a:solidFill>
                <a:latin typeface="Arial" pitchFamily="34" charset="0"/>
                <a:ea typeface="Arial" pitchFamily="34" charset="-122"/>
                <a:cs typeface="Arial" pitchFamily="34" charset="-120"/>
              </a:rPr>
              <a:t>The watchdog forces a flush at 8:25 — the container structurally cannot time out or emit invalid output.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10515600" cy="640080"/>
          </a:xfrm>
          <a:prstGeom prst="rect">
            <a:avLst/>
          </a:prstGeom>
          <a:noFill/>
          <a:ln/>
        </p:spPr>
        <p:txBody>
          <a:bodyPr wrap="square" lIns="0" tIns="0" rIns="0" bIns="0" rtlCol="0" anchor="ctr"/>
          <a:lstStyle/>
          <a:p>
            <a:pPr indent="0" marL="0">
              <a:buNone/>
            </a:pPr>
            <a:r>
              <a:rPr lang="en-US" sz="3400" b="1" dirty="0">
                <a:solidFill>
                  <a:srgbClr val="26282C"/>
                </a:solidFill>
                <a:latin typeface="Arial" pitchFamily="34" charset="0"/>
                <a:ea typeface="Arial" pitchFamily="34" charset="-122"/>
                <a:cs typeface="Arial" pitchFamily="34" charset="-120"/>
              </a:rPr>
              <a:t>Results</a:t>
            </a:r>
            <a:endParaRPr lang="en-US" sz="3400" dirty="0"/>
          </a:p>
        </p:txBody>
      </p:sp>
      <p:sp>
        <p:nvSpPr>
          <p:cNvPr id="3" name="Text 1"/>
          <p:cNvSpPr/>
          <p:nvPr/>
        </p:nvSpPr>
        <p:spPr>
          <a:xfrm>
            <a:off x="822960" y="1060704"/>
            <a:ext cx="10515600" cy="274320"/>
          </a:xfrm>
          <a:prstGeom prst="rect">
            <a:avLst/>
          </a:prstGeom>
          <a:noFill/>
          <a:ln/>
        </p:spPr>
        <p:txBody>
          <a:bodyPr wrap="square" lIns="0" tIns="0" rIns="0" bIns="0" rtlCol="0" anchor="ctr"/>
          <a:lstStyle/>
          <a:p>
            <a:pPr indent="0" marL="0">
              <a:buNone/>
            </a:pPr>
            <a:r>
              <a:rPr lang="en-US" sz="1300" dirty="0">
                <a:solidFill>
                  <a:srgbClr val="63686E"/>
                </a:solidFill>
                <a:latin typeface="Arial" pitchFamily="34" charset="0"/>
                <a:ea typeface="Arial" pitchFamily="34" charset="-122"/>
                <a:cs typeface="Arial" pitchFamily="34" charset="-120"/>
              </a:rPr>
              <a:t>40-task unseen-variant suite · LLM-judged · at grading constraints (2 vCPU / 4 GB, native x86)</a:t>
            </a:r>
            <a:endParaRPr lang="en-US" sz="1300" dirty="0"/>
          </a:p>
        </p:txBody>
      </p:sp>
      <p:sp>
        <p:nvSpPr>
          <p:cNvPr id="4" name="Shape 2"/>
          <p:cNvSpPr/>
          <p:nvPr/>
        </p:nvSpPr>
        <p:spPr>
          <a:xfrm>
            <a:off x="822960" y="1600200"/>
            <a:ext cx="2423160" cy="1828800"/>
          </a:xfrm>
          <a:prstGeom prst="roundRect">
            <a:avLst>
              <a:gd name="adj" fmla="val 5000"/>
            </a:avLst>
          </a:prstGeom>
          <a:solidFill>
            <a:srgbClr val="FFFFFF"/>
          </a:solidFill>
          <a:ln w="15875">
            <a:solidFill>
              <a:srgbClr val="E3E5E8"/>
            </a:solidFill>
            <a:prstDash val="solid"/>
          </a:ln>
          <a:effectLst>
            <a:outerShdw sx="100000" sy="100000" kx="0" ky="0" algn="bl" rotWithShape="0" blurRad="88900" dist="25400" dir="5400000">
              <a:srgbClr val="9AA0A6">
                <a:alpha val="30000"/>
              </a:srgbClr>
            </a:outerShdw>
          </a:effectLst>
        </p:spPr>
      </p:sp>
      <p:sp>
        <p:nvSpPr>
          <p:cNvPr id="5" name="Text 3"/>
          <p:cNvSpPr/>
          <p:nvPr/>
        </p:nvSpPr>
        <p:spPr>
          <a:xfrm>
            <a:off x="1051560" y="1920240"/>
            <a:ext cx="1965960" cy="548640"/>
          </a:xfrm>
          <a:prstGeom prst="rect">
            <a:avLst/>
          </a:prstGeom>
          <a:noFill/>
          <a:ln/>
        </p:spPr>
        <p:txBody>
          <a:bodyPr wrap="square" lIns="0" tIns="0" rIns="0" bIns="0" rtlCol="0" anchor="ctr"/>
          <a:lstStyle/>
          <a:p>
            <a:pPr indent="0" marL="0">
              <a:buNone/>
            </a:pPr>
            <a:r>
              <a:rPr lang="en-US" sz="3600" b="1" dirty="0">
                <a:solidFill>
                  <a:srgbClr val="26282C"/>
                </a:solidFill>
                <a:latin typeface="Arial" pitchFamily="34" charset="0"/>
                <a:ea typeface="Arial" pitchFamily="34" charset="-122"/>
                <a:cs typeface="Arial" pitchFamily="34" charset="-120"/>
              </a:rPr>
              <a:t>90.0%</a:t>
            </a:r>
            <a:endParaRPr lang="en-US" sz="3600" dirty="0"/>
          </a:p>
        </p:txBody>
      </p:sp>
      <p:sp>
        <p:nvSpPr>
          <p:cNvPr id="6" name="Text 4"/>
          <p:cNvSpPr/>
          <p:nvPr/>
        </p:nvSpPr>
        <p:spPr>
          <a:xfrm>
            <a:off x="1051560" y="2606040"/>
            <a:ext cx="1965960" cy="594360"/>
          </a:xfrm>
          <a:prstGeom prst="rect">
            <a:avLst/>
          </a:prstGeom>
          <a:noFill/>
          <a:ln/>
        </p:spPr>
        <p:txBody>
          <a:bodyPr wrap="square" lIns="0" tIns="0" rIns="0" bIns="0" rtlCol="0" anchor="ctr"/>
          <a:lstStyle/>
          <a:p>
            <a:pPr indent="0" marL="0">
              <a:lnSpc>
                <a:spcPct val="110000"/>
              </a:lnSpc>
              <a:buNone/>
            </a:pPr>
            <a:r>
              <a:rPr lang="en-US" sz="1150" dirty="0">
                <a:solidFill>
                  <a:srgbClr val="63686E"/>
                </a:solidFill>
                <a:latin typeface="Arial" pitchFamily="34" charset="0"/>
                <a:ea typeface="Arial" pitchFamily="34" charset="-122"/>
                <a:cs typeface="Arial" pitchFamily="34" charset="-120"/>
              </a:rPr>
              <a:t>accuracy</a:t>
            </a:r>
            <a:endParaRPr lang="en-US" sz="1150" dirty="0"/>
          </a:p>
          <a:p>
            <a:pPr indent="0" marL="0">
              <a:lnSpc>
                <a:spcPct val="110000"/>
              </a:lnSpc>
              <a:buNone/>
            </a:pPr>
            <a:r>
              <a:rPr lang="en-US" sz="1150" dirty="0">
                <a:solidFill>
                  <a:srgbClr val="63686E"/>
                </a:solidFill>
                <a:latin typeface="Arial" pitchFamily="34" charset="0"/>
                <a:ea typeface="Arial" pitchFamily="34" charset="-122"/>
                <a:cs typeface="Arial" pitchFamily="34" charset="-120"/>
              </a:rPr>
              <a:t>zero escalation</a:t>
            </a:r>
            <a:endParaRPr lang="en-US" sz="1150" dirty="0"/>
          </a:p>
        </p:txBody>
      </p:sp>
      <p:sp>
        <p:nvSpPr>
          <p:cNvPr id="7" name="Shape 5"/>
          <p:cNvSpPr/>
          <p:nvPr/>
        </p:nvSpPr>
        <p:spPr>
          <a:xfrm>
            <a:off x="3520440" y="1600200"/>
            <a:ext cx="2423160" cy="1828800"/>
          </a:xfrm>
          <a:prstGeom prst="roundRect">
            <a:avLst>
              <a:gd name="adj" fmla="val 5000"/>
            </a:avLst>
          </a:prstGeom>
          <a:solidFill>
            <a:srgbClr val="FDEBEC"/>
          </a:solidFill>
          <a:ln/>
          <a:effectLst>
            <a:outerShdw sx="100000" sy="100000" kx="0" ky="0" algn="bl" rotWithShape="0" blurRad="88900" dist="25400" dir="5400000">
              <a:srgbClr val="9AA0A6">
                <a:alpha val="30000"/>
              </a:srgbClr>
            </a:outerShdw>
          </a:effectLst>
        </p:spPr>
      </p:sp>
      <p:sp>
        <p:nvSpPr>
          <p:cNvPr id="8" name="Text 6"/>
          <p:cNvSpPr/>
          <p:nvPr/>
        </p:nvSpPr>
        <p:spPr>
          <a:xfrm>
            <a:off x="3749040" y="1920240"/>
            <a:ext cx="1965960" cy="548640"/>
          </a:xfrm>
          <a:prstGeom prst="rect">
            <a:avLst/>
          </a:prstGeom>
          <a:noFill/>
          <a:ln/>
        </p:spPr>
        <p:txBody>
          <a:bodyPr wrap="square" lIns="0" tIns="0" rIns="0" bIns="0" rtlCol="0" anchor="ctr"/>
          <a:lstStyle/>
          <a:p>
            <a:pPr indent="0" marL="0">
              <a:buNone/>
            </a:pPr>
            <a:r>
              <a:rPr lang="en-US" sz="3600" b="1" dirty="0">
                <a:solidFill>
                  <a:srgbClr val="ED1C24"/>
                </a:solidFill>
                <a:latin typeface="Arial" pitchFamily="34" charset="0"/>
                <a:ea typeface="Arial" pitchFamily="34" charset="-122"/>
                <a:cs typeface="Arial" pitchFamily="34" charset="-120"/>
              </a:rPr>
              <a:t>95.0%</a:t>
            </a:r>
            <a:endParaRPr lang="en-US" sz="3600" dirty="0"/>
          </a:p>
        </p:txBody>
      </p:sp>
      <p:sp>
        <p:nvSpPr>
          <p:cNvPr id="9" name="Text 7"/>
          <p:cNvSpPr/>
          <p:nvPr/>
        </p:nvSpPr>
        <p:spPr>
          <a:xfrm>
            <a:off x="3749040" y="2606040"/>
            <a:ext cx="1965960" cy="594360"/>
          </a:xfrm>
          <a:prstGeom prst="rect">
            <a:avLst/>
          </a:prstGeom>
          <a:noFill/>
          <a:ln/>
        </p:spPr>
        <p:txBody>
          <a:bodyPr wrap="square" lIns="0" tIns="0" rIns="0" bIns="0" rtlCol="0" anchor="ctr"/>
          <a:lstStyle/>
          <a:p>
            <a:pPr indent="0" marL="0">
              <a:lnSpc>
                <a:spcPct val="110000"/>
              </a:lnSpc>
              <a:buNone/>
            </a:pPr>
            <a:r>
              <a:rPr lang="en-US" sz="1150" dirty="0">
                <a:solidFill>
                  <a:srgbClr val="63686E"/>
                </a:solidFill>
                <a:latin typeface="Arial" pitchFamily="34" charset="0"/>
                <a:ea typeface="Arial" pitchFamily="34" charset="-122"/>
                <a:cs typeface="Arial" pitchFamily="34" charset="-120"/>
              </a:rPr>
              <a:t>accuracy</a:t>
            </a:r>
            <a:endParaRPr lang="en-US" sz="1150" dirty="0"/>
          </a:p>
          <a:p>
            <a:pPr indent="0" marL="0">
              <a:lnSpc>
                <a:spcPct val="110000"/>
              </a:lnSpc>
              <a:buNone/>
            </a:pPr>
            <a:r>
              <a:rPr lang="en-US" sz="1150" dirty="0">
                <a:solidFill>
                  <a:srgbClr val="63686E"/>
                </a:solidFill>
                <a:latin typeface="Arial" pitchFamily="34" charset="0"/>
                <a:ea typeface="Arial" pitchFamily="34" charset="-122"/>
                <a:cs typeface="Arial" pitchFamily="34" charset="-120"/>
              </a:rPr>
              <a:t>with escalation</a:t>
            </a:r>
            <a:endParaRPr lang="en-US" sz="1150" dirty="0"/>
          </a:p>
        </p:txBody>
      </p:sp>
      <p:sp>
        <p:nvSpPr>
          <p:cNvPr id="10" name="Shape 8"/>
          <p:cNvSpPr/>
          <p:nvPr/>
        </p:nvSpPr>
        <p:spPr>
          <a:xfrm>
            <a:off x="6217920" y="1600200"/>
            <a:ext cx="2423160" cy="1828800"/>
          </a:xfrm>
          <a:prstGeom prst="roundRect">
            <a:avLst>
              <a:gd name="adj" fmla="val 5000"/>
            </a:avLst>
          </a:prstGeom>
          <a:solidFill>
            <a:srgbClr val="FFFFFF"/>
          </a:solidFill>
          <a:ln w="15875">
            <a:solidFill>
              <a:srgbClr val="E3E5E8"/>
            </a:solidFill>
            <a:prstDash val="solid"/>
          </a:ln>
          <a:effectLst>
            <a:outerShdw sx="100000" sy="100000" kx="0" ky="0" algn="bl" rotWithShape="0" blurRad="88900" dist="25400" dir="5400000">
              <a:srgbClr val="9AA0A6">
                <a:alpha val="30000"/>
              </a:srgbClr>
            </a:outerShdw>
          </a:effectLst>
        </p:spPr>
      </p:sp>
      <p:sp>
        <p:nvSpPr>
          <p:cNvPr id="11" name="Text 9"/>
          <p:cNvSpPr/>
          <p:nvPr/>
        </p:nvSpPr>
        <p:spPr>
          <a:xfrm>
            <a:off x="6446520" y="1920240"/>
            <a:ext cx="1965960" cy="548640"/>
          </a:xfrm>
          <a:prstGeom prst="rect">
            <a:avLst/>
          </a:prstGeom>
          <a:noFill/>
          <a:ln/>
        </p:spPr>
        <p:txBody>
          <a:bodyPr wrap="square" lIns="0" tIns="0" rIns="0" bIns="0" rtlCol="0" anchor="ctr"/>
          <a:lstStyle/>
          <a:p>
            <a:pPr indent="0" marL="0">
              <a:buNone/>
            </a:pPr>
            <a:r>
              <a:rPr lang="en-US" sz="3600" b="1" dirty="0">
                <a:solidFill>
                  <a:srgbClr val="26282C"/>
                </a:solidFill>
                <a:latin typeface="Arial" pitchFamily="34" charset="0"/>
                <a:ea typeface="Arial" pitchFamily="34" charset="-122"/>
                <a:cs typeface="Arial" pitchFamily="34" charset="-120"/>
              </a:rPr>
              <a:t>~300–700</a:t>
            </a:r>
            <a:endParaRPr lang="en-US" sz="3600" dirty="0"/>
          </a:p>
        </p:txBody>
      </p:sp>
      <p:sp>
        <p:nvSpPr>
          <p:cNvPr id="12" name="Text 10"/>
          <p:cNvSpPr/>
          <p:nvPr/>
        </p:nvSpPr>
        <p:spPr>
          <a:xfrm>
            <a:off x="6446520" y="2606040"/>
            <a:ext cx="1965960" cy="594360"/>
          </a:xfrm>
          <a:prstGeom prst="rect">
            <a:avLst/>
          </a:prstGeom>
          <a:noFill/>
          <a:ln/>
        </p:spPr>
        <p:txBody>
          <a:bodyPr wrap="square" lIns="0" tIns="0" rIns="0" bIns="0" rtlCol="0" anchor="ctr"/>
          <a:lstStyle/>
          <a:p>
            <a:pPr indent="0" marL="0">
              <a:lnSpc>
                <a:spcPct val="110000"/>
              </a:lnSpc>
              <a:buNone/>
            </a:pPr>
            <a:r>
              <a:rPr lang="en-US" sz="1150" dirty="0">
                <a:solidFill>
                  <a:srgbClr val="63686E"/>
                </a:solidFill>
                <a:latin typeface="Arial" pitchFamily="34" charset="0"/>
                <a:ea typeface="Arial" pitchFamily="34" charset="-122"/>
                <a:cs typeface="Arial" pitchFamily="34" charset="-120"/>
              </a:rPr>
              <a:t>expected tokens</a:t>
            </a:r>
            <a:endParaRPr lang="en-US" sz="1150" dirty="0"/>
          </a:p>
          <a:p>
            <a:pPr indent="0" marL="0">
              <a:lnSpc>
                <a:spcPct val="110000"/>
              </a:lnSpc>
              <a:buNone/>
            </a:pPr>
            <a:r>
              <a:rPr lang="en-US" sz="1150" dirty="0">
                <a:solidFill>
                  <a:srgbClr val="63686E"/>
                </a:solidFill>
                <a:latin typeface="Arial" pitchFamily="34" charset="0"/>
                <a:ea typeface="Arial" pitchFamily="34" charset="-122"/>
                <a:cs typeface="Arial" pitchFamily="34" charset="-120"/>
              </a:rPr>
              <a:t>full 19-task set</a:t>
            </a:r>
            <a:endParaRPr lang="en-US" sz="1150" dirty="0"/>
          </a:p>
        </p:txBody>
      </p:sp>
      <p:sp>
        <p:nvSpPr>
          <p:cNvPr id="13" name="Shape 11"/>
          <p:cNvSpPr/>
          <p:nvPr/>
        </p:nvSpPr>
        <p:spPr>
          <a:xfrm>
            <a:off x="8915400" y="1600200"/>
            <a:ext cx="2423160" cy="1828800"/>
          </a:xfrm>
          <a:prstGeom prst="roundRect">
            <a:avLst>
              <a:gd name="adj" fmla="val 5000"/>
            </a:avLst>
          </a:prstGeom>
          <a:solidFill>
            <a:srgbClr val="FFFFFF"/>
          </a:solidFill>
          <a:ln w="15875">
            <a:solidFill>
              <a:srgbClr val="E3E5E8"/>
            </a:solidFill>
            <a:prstDash val="solid"/>
          </a:ln>
          <a:effectLst>
            <a:outerShdw sx="100000" sy="100000" kx="0" ky="0" algn="bl" rotWithShape="0" blurRad="88900" dist="25400" dir="5400000">
              <a:srgbClr val="9AA0A6">
                <a:alpha val="30000"/>
              </a:srgbClr>
            </a:outerShdw>
          </a:effectLst>
        </p:spPr>
      </p:sp>
      <p:sp>
        <p:nvSpPr>
          <p:cNvPr id="14" name="Text 12"/>
          <p:cNvSpPr/>
          <p:nvPr/>
        </p:nvSpPr>
        <p:spPr>
          <a:xfrm>
            <a:off x="9144000" y="1920240"/>
            <a:ext cx="1965960" cy="548640"/>
          </a:xfrm>
          <a:prstGeom prst="rect">
            <a:avLst/>
          </a:prstGeom>
          <a:noFill/>
          <a:ln/>
        </p:spPr>
        <p:txBody>
          <a:bodyPr wrap="square" lIns="0" tIns="0" rIns="0" bIns="0" rtlCol="0" anchor="ctr"/>
          <a:lstStyle/>
          <a:p>
            <a:pPr indent="0" marL="0">
              <a:buNone/>
            </a:pPr>
            <a:r>
              <a:rPr lang="en-US" sz="3600" b="1" dirty="0">
                <a:solidFill>
                  <a:srgbClr val="26282C"/>
                </a:solidFill>
                <a:latin typeface="Arial" pitchFamily="34" charset="0"/>
                <a:ea typeface="Arial" pitchFamily="34" charset="-122"/>
                <a:cs typeface="Arial" pitchFamily="34" charset="-120"/>
              </a:rPr>
              <a:t>232 s</a:t>
            </a:r>
            <a:endParaRPr lang="en-US" sz="3600" dirty="0"/>
          </a:p>
        </p:txBody>
      </p:sp>
      <p:sp>
        <p:nvSpPr>
          <p:cNvPr id="15" name="Text 13"/>
          <p:cNvSpPr/>
          <p:nvPr/>
        </p:nvSpPr>
        <p:spPr>
          <a:xfrm>
            <a:off x="9144000" y="2606040"/>
            <a:ext cx="1965960" cy="594360"/>
          </a:xfrm>
          <a:prstGeom prst="rect">
            <a:avLst/>
          </a:prstGeom>
          <a:noFill/>
          <a:ln/>
        </p:spPr>
        <p:txBody>
          <a:bodyPr wrap="square" lIns="0" tIns="0" rIns="0" bIns="0" rtlCol="0" anchor="ctr"/>
          <a:lstStyle/>
          <a:p>
            <a:pPr indent="0" marL="0">
              <a:lnSpc>
                <a:spcPct val="110000"/>
              </a:lnSpc>
              <a:buNone/>
            </a:pPr>
            <a:r>
              <a:rPr lang="en-US" sz="1150" dirty="0">
                <a:solidFill>
                  <a:srgbClr val="63686E"/>
                </a:solidFill>
                <a:latin typeface="Arial" pitchFamily="34" charset="0"/>
                <a:ea typeface="Arial" pitchFamily="34" charset="-122"/>
                <a:cs typeface="Arial" pitchFamily="34" charset="-120"/>
              </a:rPr>
              <a:t>19 tasks, wall clock</a:t>
            </a:r>
            <a:endParaRPr lang="en-US" sz="1150" dirty="0"/>
          </a:p>
          <a:p>
            <a:pPr indent="0" marL="0">
              <a:lnSpc>
                <a:spcPct val="110000"/>
              </a:lnSpc>
              <a:buNone/>
            </a:pPr>
            <a:r>
              <a:rPr lang="en-US" sz="1150" dirty="0">
                <a:solidFill>
                  <a:srgbClr val="63686E"/>
                </a:solidFill>
                <a:latin typeface="Arial" pitchFamily="34" charset="0"/>
                <a:ea typeface="Arial" pitchFamily="34" charset="-122"/>
                <a:cs typeface="Arial" pitchFamily="34" charset="-120"/>
              </a:rPr>
              <a:t>measured</a:t>
            </a:r>
            <a:endParaRPr lang="en-US" sz="1150" dirty="0"/>
          </a:p>
        </p:txBody>
      </p:sp>
      <p:sp>
        <p:nvSpPr>
          <p:cNvPr id="16" name="Shape 14"/>
          <p:cNvSpPr/>
          <p:nvPr/>
        </p:nvSpPr>
        <p:spPr>
          <a:xfrm>
            <a:off x="822960" y="3977640"/>
            <a:ext cx="1109899" cy="384048"/>
          </a:xfrm>
          <a:prstGeom prst="roundRect">
            <a:avLst>
              <a:gd name="adj" fmla="val 19048"/>
            </a:avLst>
          </a:prstGeom>
          <a:solidFill>
            <a:srgbClr val="F6F7F8"/>
          </a:solidFill>
          <a:ln/>
        </p:spPr>
      </p:sp>
      <p:sp>
        <p:nvSpPr>
          <p:cNvPr id="17" name="Text 15"/>
          <p:cNvSpPr/>
          <p:nvPr/>
        </p:nvSpPr>
        <p:spPr>
          <a:xfrm>
            <a:off x="822960" y="3977640"/>
            <a:ext cx="1109899"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llama.cpp</a:t>
            </a:r>
            <a:endParaRPr lang="en-US" sz="1050" dirty="0"/>
          </a:p>
        </p:txBody>
      </p:sp>
      <p:sp>
        <p:nvSpPr>
          <p:cNvPr id="18" name="Shape 16"/>
          <p:cNvSpPr/>
          <p:nvPr/>
        </p:nvSpPr>
        <p:spPr>
          <a:xfrm>
            <a:off x="2134027" y="3977640"/>
            <a:ext cx="1190549" cy="384048"/>
          </a:xfrm>
          <a:prstGeom prst="roundRect">
            <a:avLst>
              <a:gd name="adj" fmla="val 19048"/>
            </a:avLst>
          </a:prstGeom>
          <a:solidFill>
            <a:srgbClr val="F6F7F8"/>
          </a:solidFill>
          <a:ln/>
        </p:spPr>
      </p:sp>
      <p:sp>
        <p:nvSpPr>
          <p:cNvPr id="19" name="Text 17"/>
          <p:cNvSpPr/>
          <p:nvPr/>
        </p:nvSpPr>
        <p:spPr>
          <a:xfrm>
            <a:off x="2134027" y="3977640"/>
            <a:ext cx="1190549"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Qwen3-1.7B</a:t>
            </a:r>
            <a:endParaRPr lang="en-US" sz="1050" dirty="0"/>
          </a:p>
        </p:txBody>
      </p:sp>
      <p:sp>
        <p:nvSpPr>
          <p:cNvPr id="20" name="Shape 18"/>
          <p:cNvSpPr/>
          <p:nvPr/>
        </p:nvSpPr>
        <p:spPr>
          <a:xfrm>
            <a:off x="3525744" y="3977640"/>
            <a:ext cx="1835749" cy="384048"/>
          </a:xfrm>
          <a:prstGeom prst="roundRect">
            <a:avLst>
              <a:gd name="adj" fmla="val 19048"/>
            </a:avLst>
          </a:prstGeom>
          <a:solidFill>
            <a:srgbClr val="F6F7F8"/>
          </a:solidFill>
          <a:ln/>
        </p:spPr>
      </p:sp>
      <p:sp>
        <p:nvSpPr>
          <p:cNvPr id="21" name="Text 19"/>
          <p:cNvSpPr/>
          <p:nvPr/>
        </p:nvSpPr>
        <p:spPr>
          <a:xfrm>
            <a:off x="3525744" y="3977640"/>
            <a:ext cx="1835749"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Qwen2.5-Coder-1.5B</a:t>
            </a:r>
            <a:endParaRPr lang="en-US" sz="1050" dirty="0"/>
          </a:p>
        </p:txBody>
      </p:sp>
      <p:sp>
        <p:nvSpPr>
          <p:cNvPr id="22" name="Shape 20"/>
          <p:cNvSpPr/>
          <p:nvPr/>
        </p:nvSpPr>
        <p:spPr>
          <a:xfrm>
            <a:off x="5562661" y="3977640"/>
            <a:ext cx="1351849" cy="384048"/>
          </a:xfrm>
          <a:prstGeom prst="roundRect">
            <a:avLst>
              <a:gd name="adj" fmla="val 19048"/>
            </a:avLst>
          </a:prstGeom>
          <a:solidFill>
            <a:srgbClr val="F6F7F8"/>
          </a:solidFill>
          <a:ln/>
        </p:spPr>
      </p:sp>
      <p:sp>
        <p:nvSpPr>
          <p:cNvPr id="23" name="Text 21"/>
          <p:cNvSpPr/>
          <p:nvPr/>
        </p:nvSpPr>
        <p:spPr>
          <a:xfrm>
            <a:off x="5562661" y="3977640"/>
            <a:ext cx="1351849"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Fireworks AI</a:t>
            </a:r>
            <a:endParaRPr lang="en-US" sz="1050" dirty="0"/>
          </a:p>
        </p:txBody>
      </p:sp>
      <p:sp>
        <p:nvSpPr>
          <p:cNvPr id="24" name="Shape 22"/>
          <p:cNvSpPr/>
          <p:nvPr/>
        </p:nvSpPr>
        <p:spPr>
          <a:xfrm>
            <a:off x="7115678" y="3977640"/>
            <a:ext cx="867948" cy="384048"/>
          </a:xfrm>
          <a:prstGeom prst="roundRect">
            <a:avLst>
              <a:gd name="adj" fmla="val 19048"/>
            </a:avLst>
          </a:prstGeom>
          <a:solidFill>
            <a:srgbClr val="F6F7F8"/>
          </a:solidFill>
          <a:ln/>
        </p:spPr>
      </p:sp>
      <p:sp>
        <p:nvSpPr>
          <p:cNvPr id="25" name="Text 23"/>
          <p:cNvSpPr/>
          <p:nvPr/>
        </p:nvSpPr>
        <p:spPr>
          <a:xfrm>
            <a:off x="7115678" y="3977640"/>
            <a:ext cx="867948"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Docker</a:t>
            </a:r>
            <a:endParaRPr lang="en-US" sz="1050" dirty="0"/>
          </a:p>
        </p:txBody>
      </p:sp>
      <p:sp>
        <p:nvSpPr>
          <p:cNvPr id="26" name="Shape 24"/>
          <p:cNvSpPr/>
          <p:nvPr/>
        </p:nvSpPr>
        <p:spPr>
          <a:xfrm>
            <a:off x="8184794" y="3977640"/>
            <a:ext cx="1755099" cy="384048"/>
          </a:xfrm>
          <a:prstGeom prst="roundRect">
            <a:avLst>
              <a:gd name="adj" fmla="val 19048"/>
            </a:avLst>
          </a:prstGeom>
          <a:solidFill>
            <a:srgbClr val="F6F7F8"/>
          </a:solidFill>
          <a:ln/>
        </p:spPr>
      </p:sp>
      <p:sp>
        <p:nvSpPr>
          <p:cNvPr id="27" name="Text 25"/>
          <p:cNvSpPr/>
          <p:nvPr/>
        </p:nvSpPr>
        <p:spPr>
          <a:xfrm>
            <a:off x="8184794" y="3977640"/>
            <a:ext cx="1755099" cy="384048"/>
          </a:xfrm>
          <a:prstGeom prst="rect">
            <a:avLst/>
          </a:prstGeom>
          <a:noFill/>
          <a:ln/>
        </p:spPr>
        <p:txBody>
          <a:bodyPr wrap="square" lIns="0" tIns="0" rIns="0" bIns="0" rtlCol="0" anchor="ctr"/>
          <a:lstStyle/>
          <a:p>
            <a:pPr algn="ctr" indent="0" marL="0">
              <a:buNone/>
            </a:pPr>
            <a:r>
              <a:rPr lang="en-US" sz="1050" dirty="0">
                <a:solidFill>
                  <a:srgbClr val="26282C"/>
                </a:solidFill>
                <a:latin typeface="Courier New" pitchFamily="34" charset="0"/>
                <a:ea typeface="Courier New" pitchFamily="34" charset="-122"/>
                <a:cs typeface="Courier New" pitchFamily="34" charset="-120"/>
              </a:rPr>
              <a:t>GitHub Actions CI</a:t>
            </a:r>
            <a:endParaRPr lang="en-US" sz="1050" dirty="0"/>
          </a:p>
        </p:txBody>
      </p:sp>
      <p:sp>
        <p:nvSpPr>
          <p:cNvPr id="28" name="Text 26"/>
          <p:cNvSpPr/>
          <p:nvPr/>
        </p:nvSpPr>
        <p:spPr>
          <a:xfrm>
            <a:off x="822960" y="4617720"/>
            <a:ext cx="10515600" cy="274320"/>
          </a:xfrm>
          <a:prstGeom prst="rect">
            <a:avLst/>
          </a:prstGeom>
          <a:noFill/>
          <a:ln/>
        </p:spPr>
        <p:txBody>
          <a:bodyPr wrap="square" lIns="0" tIns="0" rIns="0" bIns="0" rtlCol="0" anchor="ctr"/>
          <a:lstStyle/>
          <a:p>
            <a:pPr indent="0" marL="0">
              <a:buNone/>
            </a:pPr>
            <a:r>
              <a:rPr lang="en-US" sz="1200" dirty="0">
                <a:solidFill>
                  <a:srgbClr val="63686E"/>
                </a:solidFill>
                <a:latin typeface="Arial" pitchFamily="34" charset="0"/>
                <a:ea typeface="Arial" pitchFamily="34" charset="-122"/>
                <a:cs typeface="Arial" pitchFamily="34" charset="-120"/>
              </a:rPr>
              <a:t>2.24 GB self-contained image · pure-stdlib Python orchestrator · MIT license</a:t>
            </a:r>
            <a:endParaRPr lang="en-US" sz="1200" dirty="0"/>
          </a:p>
        </p:txBody>
      </p:sp>
      <p:sp>
        <p:nvSpPr>
          <p:cNvPr id="29" name="Shape 27"/>
          <p:cNvSpPr/>
          <p:nvPr/>
        </p:nvSpPr>
        <p:spPr>
          <a:xfrm>
            <a:off x="822960" y="5257800"/>
            <a:ext cx="10515600" cy="0"/>
          </a:xfrm>
          <a:prstGeom prst="line">
            <a:avLst/>
          </a:prstGeom>
          <a:noFill/>
          <a:ln w="12700">
            <a:solidFill>
              <a:srgbClr val="E3E5E8"/>
            </a:solidFill>
            <a:prstDash val="solid"/>
          </a:ln>
        </p:spPr>
      </p:sp>
      <p:sp>
        <p:nvSpPr>
          <p:cNvPr id="30" name="Text 28"/>
          <p:cNvSpPr/>
          <p:nvPr/>
        </p:nvSpPr>
        <p:spPr>
          <a:xfrm>
            <a:off x="822960" y="5532120"/>
            <a:ext cx="10515600" cy="502920"/>
          </a:xfrm>
          <a:prstGeom prst="rect">
            <a:avLst/>
          </a:prstGeom>
          <a:noFill/>
          <a:ln/>
        </p:spPr>
        <p:txBody>
          <a:bodyPr wrap="square" lIns="0" tIns="0" rIns="0" bIns="0" rtlCol="0" anchor="ctr"/>
          <a:lstStyle/>
          <a:p>
            <a:pPr indent="0" marL="0">
              <a:buNone/>
            </a:pPr>
            <a:r>
              <a:rPr lang="en-US" sz="2400" b="1" dirty="0">
                <a:solidFill>
                  <a:srgbClr val="26282C"/>
                </a:solidFill>
                <a:latin typeface="Arial" pitchFamily="34" charset="0"/>
                <a:ea typeface="Arial" pitchFamily="34" charset="-122"/>
                <a:cs typeface="Arial" pitchFamily="34" charset="-120"/>
              </a:rPr>
              <a:t>FrugalRouter</a:t>
            </a:r>
            <a:pPr indent="0" marL="0">
              <a:buNone/>
            </a:pPr>
            <a:r>
              <a:rPr lang="en-US" sz="2400" b="1" dirty="0">
                <a:solidFill>
                  <a:srgbClr val="ED1C24"/>
                </a:solidFill>
                <a:latin typeface="Arial" pitchFamily="34" charset="0"/>
                <a:ea typeface="Arial" pitchFamily="34" charset="-122"/>
                <a:cs typeface="Arial" pitchFamily="34" charset="-120"/>
              </a:rPr>
              <a:t> — verified answers, almost free.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2026-07-11T08:35:35Z</dcterms:created>
  <dcterms:modified xsi:type="dcterms:W3CDTF">2026-07-11T08:35:35Z</dcterms:modified>
</cp:coreProperties>
</file>